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1207bc61a24ba8" /><Relationship Type="http://schemas.openxmlformats.org/officeDocument/2006/relationships/extended-properties" Target="/docProps/app.xml" Id="R8a1ca1f2b0dc49f2" /><Relationship Type="http://schemas.openxmlformats.org/officeDocument/2006/relationships/officeDocument" Target="/ppt/presentation.xml" Id="R5c7a59ac3c5749ce" /></Relationships>
</file>

<file path=ppt/presentation.xml><?xml version="1.0" encoding="utf-8"?>
<p:presentation xmlns:p="http://schemas.openxmlformats.org/presentationml/2006/main">
  <p:sldMasterIdLst>
    <p:sldMasterId xmlns:r="http://schemas.openxmlformats.org/officeDocument/2006/relationships" id="2147483648" r:id="R599e39979e0c4850"/>
  </p:sldMasterIdLst>
  <p:notesMasterIdLst>
    <p:notesMasterId xmlns:r="http://schemas.openxmlformats.org/officeDocument/2006/relationships" r:id="R89a8196eb32d40d7"/>
  </p:notesMasterIdLst>
  <p:sldIdLst>
    <p:sldId xmlns:r="http://schemas.openxmlformats.org/officeDocument/2006/relationships" id="256" r:id="R0632ccf75f5e48ea"/>
    <p:sldId xmlns:r="http://schemas.openxmlformats.org/officeDocument/2006/relationships" id="257" r:id="R44959b333d834c47"/>
    <p:sldId xmlns:r="http://schemas.openxmlformats.org/officeDocument/2006/relationships" id="258" r:id="R6dae450f8bc64014"/>
    <p:sldId xmlns:r="http://schemas.openxmlformats.org/officeDocument/2006/relationships" id="259" r:id="Ra2ae70c3aeaa4188"/>
    <p:sldId xmlns:r="http://schemas.openxmlformats.org/officeDocument/2006/relationships" id="260" r:id="R9bcaad8c078b4a16"/>
    <p:sldId xmlns:r="http://schemas.openxmlformats.org/officeDocument/2006/relationships" id="261" r:id="R9270bfb8bf8446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7b4ea60a704838" /><Relationship Type="http://schemas.openxmlformats.org/officeDocument/2006/relationships/slideMaster" Target="/ppt/slideMasters/slideMaster1.xml" Id="R599e39979e0c4850" /><Relationship Type="http://schemas.openxmlformats.org/officeDocument/2006/relationships/notesMaster" Target="/ppt/notesMasters/notesMaster1.xml" Id="R89a8196eb32d40d7" /><Relationship Type="http://schemas.openxmlformats.org/officeDocument/2006/relationships/presProps" Target="/ppt/presProps.xml" Id="R66a7d0c8c6db4399" /><Relationship Type="http://schemas.openxmlformats.org/officeDocument/2006/relationships/tableStyles" Target="/ppt/tableStyles.xml" Id="R12bef3b460c345c7" /><Relationship Type="http://schemas.openxmlformats.org/officeDocument/2006/relationships/slide" Target="/ppt/slides/slide1.xml" Id="R0632ccf75f5e48ea" /><Relationship Type="http://schemas.openxmlformats.org/officeDocument/2006/relationships/slide" Target="/ppt/slides/slide2.xml" Id="R44959b333d834c47" /><Relationship Type="http://schemas.openxmlformats.org/officeDocument/2006/relationships/slide" Target="/ppt/slides/slide3.xml" Id="R6dae450f8bc64014" /><Relationship Type="http://schemas.openxmlformats.org/officeDocument/2006/relationships/slide" Target="/ppt/slides/slide4.xml" Id="Ra2ae70c3aeaa4188" /><Relationship Type="http://schemas.openxmlformats.org/officeDocument/2006/relationships/slide" Target="/ppt/slides/slide5.xml" Id="R9bcaad8c078b4a16" /><Relationship Type="http://schemas.openxmlformats.org/officeDocument/2006/relationships/slide" Target="/ppt/slides/slide6.xml" Id="R9270bfb8bf8446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3d8e7207134f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65f83bec394871" /><Relationship Type="http://schemas.openxmlformats.org/officeDocument/2006/relationships/notesMaster" Target="/ppt/notesMasters/notesMaster1.xml" Id="Re210c90e7fa54f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f1a8ee610f4f74" /><Relationship Type="http://schemas.openxmlformats.org/officeDocument/2006/relationships/notesMaster" Target="/ppt/notesMasters/notesMaster1.xml" Id="R8f404d760ff545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29c77b6e954bb6" /><Relationship Type="http://schemas.openxmlformats.org/officeDocument/2006/relationships/notesMaster" Target="/ppt/notesMasters/notesMaster1.xml" Id="R94b5a28ed05543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8770b4627e4b0a" /><Relationship Type="http://schemas.openxmlformats.org/officeDocument/2006/relationships/notesMaster" Target="/ppt/notesMasters/notesMaster1.xml" Id="R72f6e169ca5042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6a95b78a8c49e7" /><Relationship Type="http://schemas.openxmlformats.org/officeDocument/2006/relationships/notesMaster" Target="/ppt/notesMasters/notesMaster1.xml" Id="Rea11bddfbb9b40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1d3af933ae43b9" /><Relationship Type="http://schemas.openxmlformats.org/officeDocument/2006/relationships/notesMaster" Target="/ppt/notesMasters/notesMaster1.xml" Id="R92bd5c1b2af047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Introduce the team and problem WO-012. A QRNG uses quantum measurements as a randomness source. Q-Sentinel examines its digitized output and helps engineers investigate changes. Our prototype uses files and classical simulated streams. Team 55, Gladiators. Members: Ashin R, Akhash A, Anushek RK, Astlin Dijo D, Aravind R. Source: user-supplied six-slide outline and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Noise, bit bias, dependence, detector operating conditions, acquisition timing and post-processing can affect observed output. These are possible contributors, not diagnoses from bits alone. A pass/fail statistical summary is useful but does not itself explain the timeline. Avoid claiming all existing tools lack monitoring. Early detection is an objective evaluated in simulations, not a guarantee for every fault. Source: user outline,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Entropy fingerprinting combines normalized anomalies and raw metrics such as marginal Shannon/min entropy, bias, correlation, runs and spectral characteristics. Rule-based signatures describe behavior consistent with bias, correlation, periodicity, bursts or repetition. They do not prove hardware causes. The Failure Lab supports controlled faults. Forecasts are conditional projections and may be unavailable. The added value is connecting monitoring, first-detection evidence and engineering follow-up. Sources: user outline;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Inputs currently include TXT, CSV and binary files plus the simulator. CUSUM accumulates deviations from a frozen baseline, with calibration and persistence rules. An initial 30-window baseline is unverified unless supplied reference data is available. Six NIST families: Frequency, Block Frequency, Runs, Longest Run, DFT and Cumulative Sums forward/backward. Marginal entropy does not capture all sequence predictability. NIST passes do not certify quantum origin or security. SQLite stores history, and ReportLab produces PDF reports. Serial, TCP/WebSocket and MQTT adapters remain future integration points. Sources: q-sentinel/README.md; NIST SP 800-22 Rev.1a https://csrc.nist.gov/pubs/sp/800/22/r1/upd1/final.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MVP runs on a Windows laptop using mature Python libraries. The digital twin is an engineering-level classical simulation, not quantum physics simulation. Evaluation used five seeds and 75 fault scenarios; 71 were detected and 4 missed. There were 2 false alert events over 350 healthy monitoring windows. Do not describe 71/75 as overall accuracy. Early-warning comparison had 16 earlier detections, 41 simultaneous, 3 later and 15 without jointly available times. Do not claim every fault is found before NIST. A real-data lab pilot is required. AWS EC2, Linux and Docker are proposed deployment targets, not verified current deployments. Actual costs depend on resources and usage. Sources: q-sentinel/output/evaluation-summary.json; q-sentinel/VALIDATION.md; user outline.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about 45 seconds. Potential application areas include QRNG development for cryptographic key generation, secure communication, authentication, quantum networks and research. These are intended use areas, not current customers or certified production deployments. First detection is not necessarily the true physical onset. Trend projections require sufficient consistent evidence and are conditional. The next milestone is validation against real QRNG recordings and hardware measurements. End with: Q-Sentinel helps engineers understand when randomness changes, what evidence supports the warning, and what to investigate next. Offer the Failure Lab demo, using actual displayed values rather than promising an alert order. Sources: user outline;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03e40ff3594e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3a7e82e18a454b" /><Relationship Type="http://schemas.openxmlformats.org/officeDocument/2006/relationships/slideLayout" Target="/ppt/slideLayouts/slideLayout1.xml" Id="Re65c034268ce4d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5c034268ce4d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7106b6d64d4c9e" /><Relationship Type="http://schemas.openxmlformats.org/officeDocument/2006/relationships/notesSlide" Target="/ppt/notesSlides/notesSlide1.xml" Id="R83ce5a12166a4d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5e11c269a04088" /><Relationship Type="http://schemas.openxmlformats.org/officeDocument/2006/relationships/notesSlide" Target="/ppt/notesSlides/notesSlide2.xml" Id="R57c3b8027e1e4e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7781ac1a24478a" /><Relationship Type="http://schemas.openxmlformats.org/officeDocument/2006/relationships/notesSlide" Target="/ppt/notesSlides/notesSlide3.xml" Id="R38107fb80b1a42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73d90522684043" /><Relationship Type="http://schemas.openxmlformats.org/officeDocument/2006/relationships/notesSlide" Target="/ppt/notesSlides/notesSlide4.xml" Id="R463214ec0b7845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1de43196744169" /><Relationship Type="http://schemas.openxmlformats.org/officeDocument/2006/relationships/notesSlide" Target="/ppt/notesSlides/notesSlide5.xml" Id="R8ebefd8022374e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8afb0bcd9447bc" /><Relationship Type="http://schemas.openxmlformats.org/officeDocument/2006/relationships/notesSlide" Target="/ppt/notesSlides/notesSlide6.xml" Id="R836898b241d04685" /></Relationships>
</file>

<file path=ppt/slides/slide1.xml><?xml version="1.0" encoding="utf-8"?>
<p:sld xmlns:p="http://schemas.openxmlformats.org/presentationml/2006/main">
  <p:cSld>
    <p:bg>
      <p:bgPr>
        <a:solidFill xmlns:a="http://schemas.openxmlformats.org/drawingml/2006/main">
          <a:srgbClr val="F2F8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08F1A86-DB5F-4B40-BDBE-F7BDA1AE0751}"/>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TEAM INFORMATION</a:t>
            </a:r>
          </a:p>
        </p:txBody>
      </p:sp>
      <p:sp>
        <p:nvSpPr>
          <p:cNvPr id="2" name="">
            <a:extLst xmlns:a="http://schemas.openxmlformats.org/drawingml/2006/main">
              <a:ext uri="{FF2B5EF4-FFF2-40B4-BE49-F238E27FC236}">
                <a16:creationId xmlns:a16="http://schemas.microsoft.com/office/drawing/2014/main" id="{623D9628-540C-4642-9068-45FAEBA1EE50}"/>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Q-SENTINEL</a:t>
            </a:r>
          </a:p>
        </p:txBody>
      </p:sp>
      <p:sp>
        <p:nvSpPr>
          <p:cNvPr id="3" name="">
            <a:extLst xmlns:a="http://schemas.openxmlformats.org/drawingml/2006/main">
              <a:ext uri="{FF2B5EF4-FFF2-40B4-BE49-F238E27FC236}">
                <a16:creationId xmlns:a16="http://schemas.microsoft.com/office/drawing/2014/main" id="{723F9C0B-E38B-4793-AF3F-A6FAFA41FC6C}"/>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8243A0C6-305B-43F6-84F7-3574BDA5B90C}"/>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2BDA408-7DA6-4A97-BAD2-1E2C073D3400}"/>
              </a:ext>
            </a:extLst>
          </p:cNvPr>
          <p:cNvSpPr>
            <a:spLocks xmlns:a="http://schemas.openxmlformats.org/drawingml/2006/main" noGrp="1"/>
          </p:cNvSpPr>
          <p:nvPr/>
        </p:nvSpPr>
        <p:spPr>
          <a:xfrm xmlns:a="http://schemas.openxmlformats.org/drawingml/2006/main">
            <a:off x="685800" y="18192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354653"/>
                </a:solidFill>
                <a:latin typeface="Arial"/>
                <a:ea typeface="Arial"/>
                <a:cs typeface="Arial"/>
              </a:defRPr>
            </a:pPr>
            <a:r>
              <a:rPr sz="2850" b="1">
                <a:solidFill>
                  <a:srgbClr val="354653"/>
                </a:solidFill>
                <a:latin typeface="Arial"/>
                <a:ea typeface="Arial"/>
                <a:cs typeface="Arial"/>
              </a:rPr>
              <a:t>Intelligent QRNG Reliability, Forensics</a:t>
            </a:r>
          </a:p>
          <a:p xmlns:a="http://schemas.openxmlformats.org/drawingml/2006/main">
            <a:pPr>
              <a:defRPr sz="2850" b="1">
                <a:solidFill>
                  <a:srgbClr val="354653"/>
                </a:solidFill>
                <a:latin typeface="Arial"/>
                <a:ea typeface="Arial"/>
                <a:cs typeface="Arial"/>
              </a:defRPr>
            </a:pPr>
            <a:r>
              <a:rPr sz="2850" b="1">
                <a:solidFill>
                  <a:srgbClr val="354653"/>
                </a:solidFill>
                <a:latin typeface="Arial"/>
                <a:ea typeface="Arial"/>
                <a:cs typeface="Arial"/>
              </a:rPr>
              <a:t>&amp; Early-Warning System</a:t>
            </a:r>
          </a:p>
        </p:txBody>
      </p:sp>
      <p:sp>
        <p:nvSpPr>
          <p:cNvPr id="6" name="">
            <a:extLst xmlns:a="http://schemas.openxmlformats.org/drawingml/2006/main">
              <a:ext uri="{FF2B5EF4-FFF2-40B4-BE49-F238E27FC236}">
                <a16:creationId xmlns:a16="http://schemas.microsoft.com/office/drawing/2014/main" id="{DB9F13C6-B7E4-4704-8337-D5EDD9655248}"/>
              </a:ext>
            </a:extLst>
          </p:cNvPr>
          <p:cNvSpPr>
            <a:spLocks xmlns:a="http://schemas.openxmlformats.org/drawingml/2006/main" noGrp="1"/>
          </p:cNvSpPr>
          <p:nvPr/>
        </p:nvSpPr>
        <p:spPr>
          <a:xfrm xmlns:a="http://schemas.openxmlformats.org/drawingml/2006/main">
            <a:off x="685800" y="34575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TEAM NAME</a:t>
            </a:r>
          </a:p>
        </p:txBody>
      </p:sp>
      <p:sp>
        <p:nvSpPr>
          <p:cNvPr id="7" name="">
            <a:extLst xmlns:a="http://schemas.openxmlformats.org/drawingml/2006/main">
              <a:ext uri="{FF2B5EF4-FFF2-40B4-BE49-F238E27FC236}">
                <a16:creationId xmlns:a16="http://schemas.microsoft.com/office/drawing/2014/main" id="{3B643A16-3BD8-4B7B-864B-FE4F13326AC2}"/>
              </a:ext>
            </a:extLst>
          </p:cNvPr>
          <p:cNvSpPr>
            <a:spLocks xmlns:a="http://schemas.openxmlformats.org/drawingml/2006/main" noGrp="1"/>
          </p:cNvSpPr>
          <p:nvPr/>
        </p:nvSpPr>
        <p:spPr>
          <a:xfrm xmlns:a="http://schemas.openxmlformats.org/drawingml/2006/main">
            <a:off x="685800" y="3876675"/>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Gladiators</a:t>
            </a:r>
          </a:p>
        </p:txBody>
      </p:sp>
      <p:sp>
        <p:nvSpPr>
          <p:cNvPr id="8" name="">
            <a:extLst xmlns:a="http://schemas.openxmlformats.org/drawingml/2006/main">
              <a:ext uri="{FF2B5EF4-FFF2-40B4-BE49-F238E27FC236}">
                <a16:creationId xmlns:a16="http://schemas.microsoft.com/office/drawing/2014/main" id="{BBBDCEA7-9485-4356-A89F-6D524DD49864}"/>
              </a:ext>
            </a:extLst>
          </p:cNvPr>
          <p:cNvSpPr>
            <a:spLocks xmlns:a="http://schemas.openxmlformats.org/drawingml/2006/main" noGrp="1"/>
          </p:cNvSpPr>
          <p:nvPr/>
        </p:nvSpPr>
        <p:spPr>
          <a:xfrm xmlns:a="http://schemas.openxmlformats.org/drawingml/2006/main">
            <a:off x="7524750" y="34575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TEAM NUMBER</a:t>
            </a:r>
          </a:p>
        </p:txBody>
      </p:sp>
      <p:sp>
        <p:nvSpPr>
          <p:cNvPr id="9" name="">
            <a:extLst xmlns:a="http://schemas.openxmlformats.org/drawingml/2006/main">
              <a:ext uri="{FF2B5EF4-FFF2-40B4-BE49-F238E27FC236}">
                <a16:creationId xmlns:a16="http://schemas.microsoft.com/office/drawing/2014/main" id="{AFC4C120-F042-43F2-88C5-E132A1536783}"/>
              </a:ext>
            </a:extLst>
          </p:cNvPr>
          <p:cNvSpPr>
            <a:spLocks xmlns:a="http://schemas.openxmlformats.org/drawingml/2006/main" noGrp="1"/>
          </p:cNvSpPr>
          <p:nvPr/>
        </p:nvSpPr>
        <p:spPr>
          <a:xfrm xmlns:a="http://schemas.openxmlformats.org/drawingml/2006/main">
            <a:off x="7524750" y="38766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55</a:t>
            </a:r>
          </a:p>
        </p:txBody>
      </p:sp>
      <p:sp>
        <p:nvSpPr>
          <p:cNvPr id="10" name="">
            <a:extLst xmlns:a="http://schemas.openxmlformats.org/drawingml/2006/main">
              <a:ext uri="{FF2B5EF4-FFF2-40B4-BE49-F238E27FC236}">
                <a16:creationId xmlns:a16="http://schemas.microsoft.com/office/drawing/2014/main" id="{7A4CB058-900E-4252-9F65-615AEDA50510}"/>
              </a:ext>
            </a:extLst>
          </p:cNvPr>
          <p:cNvSpPr>
            <a:spLocks xmlns:a="http://schemas.openxmlformats.org/drawingml/2006/main" noGrp="1"/>
          </p:cNvSpPr>
          <p:nvPr/>
        </p:nvSpPr>
        <p:spPr>
          <a:xfrm xmlns:a="http://schemas.openxmlformats.org/drawingml/2006/main">
            <a:off x="685800" y="45815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C7D88"/>
                </a:solidFill>
                <a:latin typeface="Arial"/>
                <a:ea typeface="Arial"/>
                <a:cs typeface="Arial"/>
              </a:defRPr>
            </a:pPr>
            <a:r>
              <a:rPr sz="1875" b="0">
                <a:solidFill>
                  <a:srgbClr val="6C7D88"/>
                </a:solidFill>
                <a:latin typeface="Arial"/>
                <a:ea typeface="Arial"/>
                <a:cs typeface="Arial"/>
              </a:rPr>
              <a:t>Ashin R   /   Akhash A   /   Anushek RK   /   Astlin Dijo D   /   Aravind R</a:t>
            </a:r>
          </a:p>
        </p:txBody>
      </p:sp>
      <p:sp>
        <p:nvSpPr>
          <p:cNvPr id="11" name="">
            <a:extLst xmlns:a="http://schemas.openxmlformats.org/drawingml/2006/main">
              <a:ext uri="{FF2B5EF4-FFF2-40B4-BE49-F238E27FC236}">
                <a16:creationId xmlns:a16="http://schemas.microsoft.com/office/drawing/2014/main" id="{81021F43-CE38-484C-B086-D48CF702254C}"/>
              </a:ext>
            </a:extLst>
          </p:cNvPr>
          <p:cNvSpPr>
            <a:spLocks xmlns:a="http://schemas.openxmlformats.org/drawingml/2006/main" noGrp="1"/>
          </p:cNvSpPr>
          <p:nvPr/>
        </p:nvSpPr>
        <p:spPr>
          <a:xfrm xmlns:a="http://schemas.openxmlformats.org/drawingml/2006/main">
            <a:off x="685800" y="53054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8BC"/>
                </a:solidFill>
                <a:latin typeface="Arial"/>
                <a:ea typeface="Arial"/>
                <a:cs typeface="Arial"/>
              </a:defRPr>
            </a:pPr>
            <a:r>
              <a:rPr sz="1800" b="1">
                <a:solidFill>
                  <a:srgbClr val="2878BC"/>
                </a:solidFill>
                <a:latin typeface="Arial"/>
                <a:ea typeface="Arial"/>
                <a:cs typeface="Arial"/>
              </a:rPr>
              <a:t>WO-012   Quantum Random Number Generator (QRNG) Entropy Validator</a:t>
            </a:r>
          </a:p>
        </p:txBody>
      </p:sp>
      <p:sp>
        <p:nvSpPr>
          <p:cNvPr id="12" name="">
            <a:extLst xmlns:a="http://schemas.openxmlformats.org/drawingml/2006/main">
              <a:ext uri="{FF2B5EF4-FFF2-40B4-BE49-F238E27FC236}">
                <a16:creationId xmlns:a16="http://schemas.microsoft.com/office/drawing/2014/main" id="{479E7BF2-C8EA-4C72-B97B-C53E41359C18}"/>
              </a:ext>
            </a:extLst>
          </p:cNvPr>
          <p:cNvSpPr>
            <a:spLocks xmlns:a="http://schemas.openxmlformats.org/drawingml/2006/main" noGrp="1"/>
          </p:cNvSpPr>
          <p:nvPr/>
        </p:nvSpPr>
        <p:spPr>
          <a:xfrm xmlns:a="http://schemas.openxmlformats.org/drawingml/2006/main">
            <a:off x="685800" y="58483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8579"/>
                </a:solidFill>
                <a:latin typeface="Arial"/>
                <a:ea typeface="Arial"/>
                <a:cs typeface="Arial"/>
              </a:defRPr>
            </a:pPr>
            <a:r>
              <a:rPr sz="1875" b="0">
                <a:solidFill>
                  <a:srgbClr val="248579"/>
                </a:solidFill>
                <a:latin typeface="Arial"/>
                <a:ea typeface="Arial"/>
                <a:cs typeface="Arial"/>
              </a:rPr>
              <a:t>Continuous monitoring. Evidence engineers can investigate.</a:t>
            </a:r>
          </a:p>
        </p:txBody>
      </p:sp>
    </p:spTree>
    <p:extLst>
      <p:ext uri="{BB962C8B-B14F-4D97-AF65-F5344CB8AC3E}">
        <p14:creationId xmlns:p14="http://schemas.microsoft.com/office/powerpoint/2010/main" val="1842870155"/>
      </p:ext>
    </p:extLst>
  </p:cSld>
</p:sld>
</file>

<file path=ppt/slides/slide2.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34BC76-3988-42DA-8A3A-EDEFF0A0DAB0}"/>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82B81ACA-FBD7-435E-BE8B-0190027361A0}"/>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Randomness can degrade silently</a:t>
            </a:r>
          </a:p>
        </p:txBody>
      </p:sp>
      <p:sp>
        <p:nvSpPr>
          <p:cNvPr id="3" name="">
            <a:extLst xmlns:a="http://schemas.openxmlformats.org/drawingml/2006/main">
              <a:ext uri="{FF2B5EF4-FFF2-40B4-BE49-F238E27FC236}">
                <a16:creationId xmlns:a16="http://schemas.microsoft.com/office/drawing/2014/main" id="{337B1AD4-6C6A-48AB-A0BD-39005959D605}"/>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35B83F4A-4D8E-4850-BB51-D0F45DC8B75D}"/>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1DABE70-ECED-454E-82DA-FDD46BCA825A}"/>
              </a:ext>
            </a:extLst>
          </p:cNvPr>
          <p:cNvSpPr>
            <a:spLocks xmlns:a="http://schemas.openxmlformats.org/drawingml/2006/main" noGrp="1"/>
          </p:cNvSpPr>
          <p:nvPr/>
        </p:nvSpPr>
        <p:spPr>
          <a:xfrm xmlns:a="http://schemas.openxmlformats.org/drawingml/2006/main">
            <a:off x="685800" y="18192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The quantum source is only part of the pipeline.</a:t>
            </a:r>
          </a:p>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Acquisition and processing can introduce unwanted patterns.</a:t>
            </a:r>
          </a:p>
        </p:txBody>
      </p:sp>
      <p:sp>
        <p:nvSpPr>
          <p:cNvPr id="6" name="">
            <a:extLst xmlns:a="http://schemas.openxmlformats.org/drawingml/2006/main">
              <a:ext uri="{FF2B5EF4-FFF2-40B4-BE49-F238E27FC236}">
                <a16:creationId xmlns:a16="http://schemas.microsoft.com/office/drawing/2014/main" id="{A45941F3-053D-4664-B55B-400055593E80}"/>
              </a:ext>
            </a:extLst>
          </p:cNvPr>
          <p:cNvSpPr>
            <a:spLocks xmlns:a="http://schemas.openxmlformats.org/drawingml/2006/main" noGrp="1"/>
          </p:cNvSpPr>
          <p:nvPr/>
        </p:nvSpPr>
        <p:spPr>
          <a:xfrm xmlns:a="http://schemas.openxmlformats.org/drawingml/2006/main">
            <a:off x="685800" y="32861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WHY IT MATTERS</a:t>
            </a:r>
          </a:p>
        </p:txBody>
      </p:sp>
      <p:sp>
        <p:nvSpPr>
          <p:cNvPr id="7" name="">
            <a:extLst xmlns:a="http://schemas.openxmlformats.org/drawingml/2006/main">
              <a:ext uri="{FF2B5EF4-FFF2-40B4-BE49-F238E27FC236}">
                <a16:creationId xmlns:a16="http://schemas.microsoft.com/office/drawing/2014/main" id="{BEB5BA90-BAA0-48F2-83E1-C89F371A6BCE}"/>
              </a:ext>
            </a:extLst>
          </p:cNvPr>
          <p:cNvSpPr>
            <a:spLocks xmlns:a="http://schemas.openxmlformats.org/drawingml/2006/main" noGrp="1"/>
          </p:cNvSpPr>
          <p:nvPr/>
        </p:nvSpPr>
        <p:spPr>
          <a:xfrm xmlns:a="http://schemas.openxmlformats.org/drawingml/2006/main">
            <a:off x="685800" y="3819525"/>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Unpredictable numbers support</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cryptographic keys, authentication</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and secure communications.</a:t>
            </a:r>
          </a:p>
        </p:txBody>
      </p:sp>
      <p:sp>
        <p:nvSpPr>
          <p:cNvPr id="8" name="">
            <a:extLst xmlns:a="http://schemas.openxmlformats.org/drawingml/2006/main">
              <a:ext uri="{FF2B5EF4-FFF2-40B4-BE49-F238E27FC236}">
                <a16:creationId xmlns:a16="http://schemas.microsoft.com/office/drawing/2014/main" id="{F42CF0B7-856E-438E-B693-D8336922677E}"/>
              </a:ext>
            </a:extLst>
          </p:cNvPr>
          <p:cNvSpPr>
            <a:spLocks xmlns:a="http://schemas.openxmlformats.org/drawingml/2006/main" noGrp="1"/>
          </p:cNvSpPr>
          <p:nvPr/>
        </p:nvSpPr>
        <p:spPr>
          <a:xfrm xmlns:a="http://schemas.openxmlformats.org/drawingml/2006/main">
            <a:off x="6534150" y="3286125"/>
            <a:ext cx="500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WHAT ENGINEERS NEED</a:t>
            </a:r>
          </a:p>
        </p:txBody>
      </p:sp>
      <p:sp>
        <p:nvSpPr>
          <p:cNvPr id="9" name="">
            <a:extLst xmlns:a="http://schemas.openxmlformats.org/drawingml/2006/main">
              <a:ext uri="{FF2B5EF4-FFF2-40B4-BE49-F238E27FC236}">
                <a16:creationId xmlns:a16="http://schemas.microsoft.com/office/drawing/2014/main" id="{D8F9C0F7-FB78-46E8-B596-447A0613076C}"/>
              </a:ext>
            </a:extLst>
          </p:cNvPr>
          <p:cNvSpPr>
            <a:spLocks xmlns:a="http://schemas.openxmlformats.org/drawingml/2006/main" noGrp="1"/>
          </p:cNvSpPr>
          <p:nvPr/>
        </p:nvSpPr>
        <p:spPr>
          <a:xfrm xmlns:a="http://schemas.openxmlformats.org/drawingml/2006/main">
            <a:off x="6534150" y="3819525"/>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When did the change appear?</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What changed, and how severely?</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What should we investigate?</a:t>
            </a:r>
          </a:p>
        </p:txBody>
      </p:sp>
      <p:sp>
        <p:nvSpPr>
          <p:cNvPr id="10" name="">
            <a:extLst xmlns:a="http://schemas.openxmlformats.org/drawingml/2006/main">
              <a:ext uri="{FF2B5EF4-FFF2-40B4-BE49-F238E27FC236}">
                <a16:creationId xmlns:a16="http://schemas.microsoft.com/office/drawing/2014/main" id="{0809DE16-C9F3-47A7-9682-D8BAA5FBFFA8}"/>
              </a:ext>
            </a:extLst>
          </p:cNvPr>
          <p:cNvSpPr>
            <a:spLocks xmlns:a="http://schemas.openxmlformats.org/drawingml/2006/main" noGrp="1"/>
          </p:cNvSpPr>
          <p:nvPr/>
        </p:nvSpPr>
        <p:spPr>
          <a:xfrm xmlns:a="http://schemas.openxmlformats.org/drawingml/2006/main">
            <a:off x="685800" y="57816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8579"/>
                </a:solidFill>
                <a:latin typeface="Arial"/>
                <a:ea typeface="Arial"/>
                <a:cs typeface="Arial"/>
              </a:defRPr>
            </a:pPr>
            <a:r>
              <a:rPr sz="2025" b="1">
                <a:solidFill>
                  <a:srgbClr val="248579"/>
                </a:solidFill>
                <a:latin typeface="Arial"/>
                <a:ea typeface="Arial"/>
                <a:cs typeface="Arial"/>
              </a:rPr>
              <a:t>Our focus: detect persistent changes early and explain the evidence.</a:t>
            </a:r>
          </a:p>
        </p:txBody>
      </p:sp>
    </p:spTree>
    <p:extLst>
      <p:ext uri="{BB962C8B-B14F-4D97-AF65-F5344CB8AC3E}">
        <p14:creationId xmlns:p14="http://schemas.microsoft.com/office/powerpoint/2010/main" val="9842278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1370B7A-C597-46CA-9EDF-E2918C1C4BFF}"/>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280BF8A4-793D-4B4F-BA55-68D12DB162AF}"/>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warning linked to its statistical evidence</a:t>
            </a:r>
          </a:p>
        </p:txBody>
      </p:sp>
      <p:sp>
        <p:nvSpPr>
          <p:cNvPr id="3" name="">
            <a:extLst xmlns:a="http://schemas.openxmlformats.org/drawingml/2006/main">
              <a:ext uri="{FF2B5EF4-FFF2-40B4-BE49-F238E27FC236}">
                <a16:creationId xmlns:a16="http://schemas.microsoft.com/office/drawing/2014/main" id="{E3F2F9BD-E99D-4334-945D-06DE44712223}"/>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2D5A3EEA-3D67-4CF2-A4EA-31B9BCC92CC4}"/>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C1B0143-E1D3-4FF3-9CF9-DFA687ED6E1A}"/>
              </a:ext>
            </a:extLst>
          </p:cNvPr>
          <p:cNvSpPr>
            <a:spLocks xmlns:a="http://schemas.openxmlformats.org/drawingml/2006/main" noGrp="1"/>
          </p:cNvSpPr>
          <p:nvPr/>
        </p:nvSpPr>
        <p:spPr>
          <a:xfrm xmlns:a="http://schemas.openxmlformats.org/drawingml/2006/main">
            <a:off x="685800" y="19526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01  Monitor</a:t>
            </a:r>
          </a:p>
        </p:txBody>
      </p:sp>
      <p:sp>
        <p:nvSpPr>
          <p:cNvPr id="6" name="">
            <a:extLst xmlns:a="http://schemas.openxmlformats.org/drawingml/2006/main">
              <a:ext uri="{FF2B5EF4-FFF2-40B4-BE49-F238E27FC236}">
                <a16:creationId xmlns:a16="http://schemas.microsoft.com/office/drawing/2014/main" id="{67023329-CD7A-4F9E-B1A4-9FB25FA429FE}"/>
              </a:ext>
            </a:extLst>
          </p:cNvPr>
          <p:cNvSpPr>
            <a:spLocks xmlns:a="http://schemas.openxmlformats.org/drawingml/2006/main" noGrp="1"/>
          </p:cNvSpPr>
          <p:nvPr/>
        </p:nvSpPr>
        <p:spPr>
          <a:xfrm xmlns:a="http://schemas.openxmlformats.org/drawingml/2006/main">
            <a:off x="685800" y="2609850"/>
            <a:ext cx="3381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Windowed entropy and</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six NIST test families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track the stream over time.</a:t>
            </a:r>
          </a:p>
        </p:txBody>
      </p:sp>
      <p:sp>
        <p:nvSpPr>
          <p:cNvPr id="7" name="">
            <a:extLst xmlns:a="http://schemas.openxmlformats.org/drawingml/2006/main">
              <a:ext uri="{FF2B5EF4-FFF2-40B4-BE49-F238E27FC236}">
                <a16:creationId xmlns:a16="http://schemas.microsoft.com/office/drawing/2014/main" id="{5B6C7786-9252-43CF-B9CB-AB87B72E9947}"/>
              </a:ext>
            </a:extLst>
          </p:cNvPr>
          <p:cNvSpPr>
            <a:spLocks xmlns:a="http://schemas.openxmlformats.org/drawingml/2006/main" noGrp="1"/>
          </p:cNvSpPr>
          <p:nvPr/>
        </p:nvSpPr>
        <p:spPr>
          <a:xfrm xmlns:a="http://schemas.openxmlformats.org/drawingml/2006/main">
            <a:off x="4552950" y="19526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02  Investigate</a:t>
            </a:r>
          </a:p>
        </p:txBody>
      </p:sp>
      <p:sp>
        <p:nvSpPr>
          <p:cNvPr id="8" name="">
            <a:extLst xmlns:a="http://schemas.openxmlformats.org/drawingml/2006/main">
              <a:ext uri="{FF2B5EF4-FFF2-40B4-BE49-F238E27FC236}">
                <a16:creationId xmlns:a16="http://schemas.microsoft.com/office/drawing/2014/main" id="{09AFDFE4-7511-4906-AE7E-3FF7FD534F96}"/>
              </a:ext>
            </a:extLst>
          </p:cNvPr>
          <p:cNvSpPr>
            <a:spLocks xmlns:a="http://schemas.openxmlformats.org/drawingml/2006/main" noGrp="1"/>
          </p:cNvSpPr>
          <p:nvPr/>
        </p:nvSpPr>
        <p:spPr>
          <a:xfrm xmlns:a="http://schemas.openxmlformats.org/drawingml/2006/main">
            <a:off x="4552950" y="2609850"/>
            <a:ext cx="3381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An entropy fingerprint</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shows changes in bias,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dependence and patterns.</a:t>
            </a:r>
          </a:p>
        </p:txBody>
      </p:sp>
      <p:sp>
        <p:nvSpPr>
          <p:cNvPr id="9" name="">
            <a:extLst xmlns:a="http://schemas.openxmlformats.org/drawingml/2006/main">
              <a:ext uri="{FF2B5EF4-FFF2-40B4-BE49-F238E27FC236}">
                <a16:creationId xmlns:a16="http://schemas.microsoft.com/office/drawing/2014/main" id="{69FCE54A-3D9E-453E-A5C0-FE8A0502F326}"/>
              </a:ext>
            </a:extLst>
          </p:cNvPr>
          <p:cNvSpPr>
            <a:spLocks xmlns:a="http://schemas.openxmlformats.org/drawingml/2006/main" noGrp="1"/>
          </p:cNvSpPr>
          <p:nvPr/>
        </p:nvSpPr>
        <p:spPr>
          <a:xfrm xmlns:a="http://schemas.openxmlformats.org/drawingml/2006/main">
            <a:off x="8420100" y="1952625"/>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03  Respond</a:t>
            </a:r>
          </a:p>
        </p:txBody>
      </p:sp>
      <p:sp>
        <p:nvSpPr>
          <p:cNvPr id="10" name="">
            <a:extLst xmlns:a="http://schemas.openxmlformats.org/drawingml/2006/main">
              <a:ext uri="{FF2B5EF4-FFF2-40B4-BE49-F238E27FC236}">
                <a16:creationId xmlns:a16="http://schemas.microsoft.com/office/drawing/2014/main" id="{DE6E0362-29DC-4881-A6AB-30FD3A3D24C8}"/>
              </a:ext>
            </a:extLst>
          </p:cNvPr>
          <p:cNvSpPr>
            <a:spLocks xmlns:a="http://schemas.openxmlformats.org/drawingml/2006/main" noGrp="1"/>
          </p:cNvSpPr>
          <p:nvPr/>
        </p:nvSpPr>
        <p:spPr>
          <a:xfrm xmlns:a="http://schemas.openxmlformats.org/drawingml/2006/main">
            <a:off x="8420100" y="2609850"/>
            <a:ext cx="3095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Q-Advisor explains alerts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and suggests checks.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A passport saves the record.</a:t>
            </a:r>
          </a:p>
        </p:txBody>
      </p:sp>
      <p:sp>
        <p:nvSpPr>
          <p:cNvPr id="11" name="">
            <a:extLst xmlns:a="http://schemas.openxmlformats.org/drawingml/2006/main">
              <a:ext uri="{FF2B5EF4-FFF2-40B4-BE49-F238E27FC236}">
                <a16:creationId xmlns:a16="http://schemas.microsoft.com/office/drawing/2014/main" id="{B4FD0798-CE60-4E94-A4DC-A05913E89F1C}"/>
              </a:ext>
            </a:extLst>
          </p:cNvPr>
          <p:cNvSpPr>
            <a:spLocks xmlns:a="http://schemas.openxmlformats.org/drawingml/2006/main" noGrp="1"/>
          </p:cNvSpPr>
          <p:nvPr/>
        </p:nvSpPr>
        <p:spPr>
          <a:xfrm xmlns:a="http://schemas.openxmlformats.org/drawingml/2006/main">
            <a:off x="685800" y="43910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8579"/>
                </a:solidFill>
                <a:latin typeface="Arial"/>
                <a:ea typeface="Arial"/>
                <a:cs typeface="Arial"/>
              </a:defRPr>
            </a:pPr>
            <a:r>
              <a:rPr sz="2025" b="1">
                <a:solidFill>
                  <a:srgbClr val="248579"/>
                </a:solidFill>
                <a:latin typeface="Arial"/>
                <a:ea typeface="Arial"/>
                <a:cs typeface="Arial"/>
              </a:rPr>
              <a:t>DATA → WINDOWS → MEASURE → DETECT → EXPLAIN → RECOMMEND</a:t>
            </a:r>
          </a:p>
        </p:txBody>
      </p:sp>
      <p:sp>
        <p:nvSpPr>
          <p:cNvPr id="12" name="">
            <a:extLst xmlns:a="http://schemas.openxmlformats.org/drawingml/2006/main">
              <a:ext uri="{FF2B5EF4-FFF2-40B4-BE49-F238E27FC236}">
                <a16:creationId xmlns:a16="http://schemas.microsoft.com/office/drawing/2014/main" id="{4F809455-681B-4417-8805-4007CEA775AD}"/>
              </a:ext>
            </a:extLst>
          </p:cNvPr>
          <p:cNvSpPr>
            <a:spLocks xmlns:a="http://schemas.openxmlformats.org/drawingml/2006/main" noGrp="1"/>
          </p:cNvSpPr>
          <p:nvPr/>
        </p:nvSpPr>
        <p:spPr>
          <a:xfrm xmlns:a="http://schemas.openxmlformats.org/drawingml/2006/main">
            <a:off x="685800" y="51911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Failure Lab: inject known faults and inspect the resulting evidence.</a:t>
            </a:r>
          </a:p>
        </p:txBody>
      </p:sp>
      <p:sp>
        <p:nvSpPr>
          <p:cNvPr id="13" name="">
            <a:extLst xmlns:a="http://schemas.openxmlformats.org/drawingml/2006/main">
              <a:ext uri="{FF2B5EF4-FFF2-40B4-BE49-F238E27FC236}">
                <a16:creationId xmlns:a16="http://schemas.microsoft.com/office/drawing/2014/main" id="{719203A3-159C-4598-A2CB-1FF3FFE9C0B6}"/>
              </a:ext>
            </a:extLst>
          </p:cNvPr>
          <p:cNvSpPr>
            <a:spLocks xmlns:a="http://schemas.openxmlformats.org/drawingml/2006/main" noGrp="1"/>
          </p:cNvSpPr>
          <p:nvPr/>
        </p:nvSpPr>
        <p:spPr>
          <a:xfrm xmlns:a="http://schemas.openxmlformats.org/drawingml/2006/main">
            <a:off x="685800" y="58102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7D88"/>
                </a:solidFill>
                <a:latin typeface="Arial"/>
                <a:ea typeface="Arial"/>
                <a:cs typeface="Arial"/>
              </a:defRPr>
            </a:pPr>
            <a:r>
              <a:rPr sz="1725" b="0">
                <a:solidFill>
                  <a:srgbClr val="6C7D88"/>
                </a:solidFill>
                <a:latin typeface="Arial"/>
                <a:ea typeface="Arial"/>
                <a:cs typeface="Arial"/>
              </a:rPr>
              <a:t>Conditional forecasts appear only when a consistent trend supports them.</a:t>
            </a:r>
          </a:p>
        </p:txBody>
      </p:sp>
    </p:spTree>
    <p:extLst>
      <p:ext uri="{BB962C8B-B14F-4D97-AF65-F5344CB8AC3E}">
        <p14:creationId xmlns:p14="http://schemas.microsoft.com/office/powerpoint/2010/main" val="1237546812"/>
      </p:ext>
    </p:extLst>
  </p:cSld>
</p:sld>
</file>

<file path=ppt/slides/slide4.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D3D43C-FDD6-48A4-B0AA-9EC565A94E59}"/>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TECHNICAL APPROACH</a:t>
            </a:r>
          </a:p>
        </p:txBody>
      </p:sp>
      <p:sp>
        <p:nvSpPr>
          <p:cNvPr id="2" name="">
            <a:extLst xmlns:a="http://schemas.openxmlformats.org/drawingml/2006/main">
              <a:ext uri="{FF2B5EF4-FFF2-40B4-BE49-F238E27FC236}">
                <a16:creationId xmlns:a16="http://schemas.microsoft.com/office/drawing/2014/main" id="{C5224593-5007-4476-A292-3126BFAA467C}"/>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One analysis pipeline, explainable decisions</a:t>
            </a:r>
          </a:p>
        </p:txBody>
      </p:sp>
      <p:sp>
        <p:nvSpPr>
          <p:cNvPr id="3" name="">
            <a:extLst xmlns:a="http://schemas.openxmlformats.org/drawingml/2006/main">
              <a:ext uri="{FF2B5EF4-FFF2-40B4-BE49-F238E27FC236}">
                <a16:creationId xmlns:a16="http://schemas.microsoft.com/office/drawing/2014/main" id="{D408CA4C-E628-4FA7-9842-4D91D7E319E0}"/>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93499639-67DD-4274-BB2B-0D2E8F0D97A4}"/>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93F4603-A43C-4AE2-902B-EB7AC7620350}"/>
              </a:ext>
            </a:extLst>
          </p:cNvPr>
          <p:cNvSpPr>
            <a:spLocks xmlns:a="http://schemas.openxmlformats.org/drawingml/2006/main" noGrp="1"/>
          </p:cNvSpPr>
          <p:nvPr/>
        </p:nvSpPr>
        <p:spPr>
          <a:xfrm xmlns:a="http://schemas.openxmlformats.org/drawingml/2006/main">
            <a:off x="685800" y="18192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8BC"/>
                </a:solidFill>
                <a:latin typeface="Arial"/>
                <a:ea typeface="Arial"/>
                <a:cs typeface="Arial"/>
              </a:defRPr>
            </a:pPr>
            <a:r>
              <a:rPr sz="2400" b="1">
                <a:solidFill>
                  <a:srgbClr val="2878BC"/>
                </a:solidFill>
                <a:latin typeface="Arial"/>
                <a:ea typeface="Arial"/>
                <a:cs typeface="Arial"/>
              </a:rPr>
              <a:t>File / simulated stream → Validate → 10,000-bit windows</a:t>
            </a:r>
          </a:p>
        </p:txBody>
      </p:sp>
      <p:sp>
        <p:nvSpPr>
          <p:cNvPr id="6" name="">
            <a:extLst xmlns:a="http://schemas.openxmlformats.org/drawingml/2006/main">
              <a:ext uri="{FF2B5EF4-FFF2-40B4-BE49-F238E27FC236}">
                <a16:creationId xmlns:a16="http://schemas.microsoft.com/office/drawing/2014/main" id="{50AF7B69-BF3A-4F86-98C9-97CBC11B7AA3}"/>
              </a:ext>
            </a:extLst>
          </p:cNvPr>
          <p:cNvSpPr>
            <a:spLocks xmlns:a="http://schemas.openxmlformats.org/drawingml/2006/main" noGrp="1"/>
          </p:cNvSpPr>
          <p:nvPr/>
        </p:nvSpPr>
        <p:spPr>
          <a:xfrm xmlns:a="http://schemas.openxmlformats.org/drawingml/2006/main">
            <a:off x="685800" y="26860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48579"/>
                </a:solidFill>
                <a:latin typeface="Arial"/>
                <a:ea typeface="Arial"/>
                <a:cs typeface="Arial"/>
              </a:defRPr>
            </a:pPr>
            <a:r>
              <a:rPr sz="1425" b="1">
                <a:solidFill>
                  <a:srgbClr val="248579"/>
                </a:solidFill>
                <a:latin typeface="Arial"/>
                <a:ea typeface="Arial"/>
                <a:cs typeface="Arial"/>
              </a:rPr>
              <a:t>ENTROPY &amp; PATTERNS</a:t>
            </a:r>
          </a:p>
        </p:txBody>
      </p:sp>
      <p:sp>
        <p:nvSpPr>
          <p:cNvPr id="7" name="">
            <a:extLst xmlns:a="http://schemas.openxmlformats.org/drawingml/2006/main">
              <a:ext uri="{FF2B5EF4-FFF2-40B4-BE49-F238E27FC236}">
                <a16:creationId xmlns:a16="http://schemas.microsoft.com/office/drawing/2014/main" id="{6282C65A-2335-45EE-AA56-387F3FAE9510}"/>
              </a:ext>
            </a:extLst>
          </p:cNvPr>
          <p:cNvSpPr>
            <a:spLocks xmlns:a="http://schemas.openxmlformats.org/drawingml/2006/main" noGrp="1"/>
          </p:cNvSpPr>
          <p:nvPr/>
        </p:nvSpPr>
        <p:spPr>
          <a:xfrm xmlns:a="http://schemas.openxmlformats.org/drawingml/2006/main">
            <a:off x="685800" y="3228975"/>
            <a:ext cx="34766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Shannon / min entropy</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Bias / autocorrelation</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Runs / spectral behavior</a:t>
            </a:r>
          </a:p>
        </p:txBody>
      </p:sp>
      <p:sp>
        <p:nvSpPr>
          <p:cNvPr id="8" name="">
            <a:extLst xmlns:a="http://schemas.openxmlformats.org/drawingml/2006/main">
              <a:ext uri="{FF2B5EF4-FFF2-40B4-BE49-F238E27FC236}">
                <a16:creationId xmlns:a16="http://schemas.microsoft.com/office/drawing/2014/main" id="{30020DC8-59C1-43E4-B23B-B59B7C152B13}"/>
              </a:ext>
            </a:extLst>
          </p:cNvPr>
          <p:cNvSpPr>
            <a:spLocks xmlns:a="http://schemas.openxmlformats.org/drawingml/2006/main" noGrp="1"/>
          </p:cNvSpPr>
          <p:nvPr/>
        </p:nvSpPr>
        <p:spPr>
          <a:xfrm xmlns:a="http://schemas.openxmlformats.org/drawingml/2006/main">
            <a:off x="4657725" y="26860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48579"/>
                </a:solidFill>
                <a:latin typeface="Arial"/>
                <a:ea typeface="Arial"/>
                <a:cs typeface="Arial"/>
              </a:defRPr>
            </a:pPr>
            <a:r>
              <a:rPr sz="1425" b="1">
                <a:solidFill>
                  <a:srgbClr val="248579"/>
                </a:solidFill>
                <a:latin typeface="Arial"/>
                <a:ea typeface="Arial"/>
                <a:cs typeface="Arial"/>
              </a:rPr>
              <a:t>STATISTICAL VALIDATION</a:t>
            </a:r>
          </a:p>
        </p:txBody>
      </p:sp>
      <p:sp>
        <p:nvSpPr>
          <p:cNvPr id="9" name="">
            <a:extLst xmlns:a="http://schemas.openxmlformats.org/drawingml/2006/main">
              <a:ext uri="{FF2B5EF4-FFF2-40B4-BE49-F238E27FC236}">
                <a16:creationId xmlns:a16="http://schemas.microsoft.com/office/drawing/2014/main" id="{CD889491-3F60-4811-9042-017BB3EFE62B}"/>
              </a:ext>
            </a:extLst>
          </p:cNvPr>
          <p:cNvSpPr>
            <a:spLocks xmlns:a="http://schemas.openxmlformats.org/drawingml/2006/main" noGrp="1"/>
          </p:cNvSpPr>
          <p:nvPr/>
        </p:nvSpPr>
        <p:spPr>
          <a:xfrm xmlns:a="http://schemas.openxmlformats.org/drawingml/2006/main">
            <a:off x="4657725" y="3228975"/>
            <a:ext cx="34766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Six NIST SP 800-22 families</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P-values and applicability</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Window-level evidence</a:t>
            </a:r>
          </a:p>
        </p:txBody>
      </p:sp>
      <p:sp>
        <p:nvSpPr>
          <p:cNvPr id="10" name="">
            <a:extLst xmlns:a="http://schemas.openxmlformats.org/drawingml/2006/main">
              <a:ext uri="{FF2B5EF4-FFF2-40B4-BE49-F238E27FC236}">
                <a16:creationId xmlns:a16="http://schemas.microsoft.com/office/drawing/2014/main" id="{46F1A3D2-20BE-4ED0-AB3D-F2880F5B4B17}"/>
              </a:ext>
            </a:extLst>
          </p:cNvPr>
          <p:cNvSpPr>
            <a:spLocks xmlns:a="http://schemas.openxmlformats.org/drawingml/2006/main" noGrp="1"/>
          </p:cNvSpPr>
          <p:nvPr/>
        </p:nvSpPr>
        <p:spPr>
          <a:xfrm xmlns:a="http://schemas.openxmlformats.org/drawingml/2006/main">
            <a:off x="8515350" y="2686050"/>
            <a:ext cx="3076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48579"/>
                </a:solidFill>
                <a:latin typeface="Arial"/>
                <a:ea typeface="Arial"/>
                <a:cs typeface="Arial"/>
              </a:defRPr>
            </a:pPr>
            <a:r>
              <a:rPr sz="1425" b="1">
                <a:solidFill>
                  <a:srgbClr val="248579"/>
                </a:solidFill>
                <a:latin typeface="Arial"/>
                <a:ea typeface="Arial"/>
                <a:cs typeface="Arial"/>
              </a:rPr>
              <a:t>CHANGE &amp; DIAGNOSIS</a:t>
            </a:r>
          </a:p>
        </p:txBody>
      </p:sp>
      <p:sp>
        <p:nvSpPr>
          <p:cNvPr id="11" name="">
            <a:extLst xmlns:a="http://schemas.openxmlformats.org/drawingml/2006/main">
              <a:ext uri="{FF2B5EF4-FFF2-40B4-BE49-F238E27FC236}">
                <a16:creationId xmlns:a16="http://schemas.microsoft.com/office/drawing/2014/main" id="{8E7BCFB7-092F-489A-89E5-7184ABDC5801}"/>
              </a:ext>
            </a:extLst>
          </p:cNvPr>
          <p:cNvSpPr>
            <a:spLocks xmlns:a="http://schemas.openxmlformats.org/drawingml/2006/main" noGrp="1"/>
          </p:cNvSpPr>
          <p:nvPr/>
        </p:nvSpPr>
        <p:spPr>
          <a:xfrm xmlns:a="http://schemas.openxmlformats.org/drawingml/2006/main">
            <a:off x="8515350" y="3228975"/>
            <a:ext cx="30765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Calibrated CUSUM</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Rule-based signatures</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Health score / Q-Advisor</a:t>
            </a:r>
          </a:p>
        </p:txBody>
      </p:sp>
      <p:sp>
        <p:nvSpPr>
          <p:cNvPr id="12" name="">
            <a:extLst xmlns:a="http://schemas.openxmlformats.org/drawingml/2006/main">
              <a:ext uri="{FF2B5EF4-FFF2-40B4-BE49-F238E27FC236}">
                <a16:creationId xmlns:a16="http://schemas.microsoft.com/office/drawing/2014/main" id="{5917C82B-1A2A-45D9-895A-303E8DFCBE85}"/>
              </a:ext>
            </a:extLst>
          </p:cNvPr>
          <p:cNvSpPr>
            <a:spLocks xmlns:a="http://schemas.openxmlformats.org/drawingml/2006/main" noGrp="1"/>
          </p:cNvSpPr>
          <p:nvPr/>
        </p:nvSpPr>
        <p:spPr>
          <a:xfrm xmlns:a="http://schemas.openxmlformats.org/drawingml/2006/main">
            <a:off x="685800" y="46767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8BC"/>
                </a:solidFill>
                <a:latin typeface="Arial"/>
                <a:ea typeface="Arial"/>
                <a:cs typeface="Arial"/>
              </a:defRPr>
            </a:pPr>
            <a:r>
              <a:rPr sz="2100" b="1">
                <a:solidFill>
                  <a:srgbClr val="2878BC"/>
                </a:solidFill>
                <a:latin typeface="Arial"/>
                <a:ea typeface="Arial"/>
                <a:cs typeface="Arial"/>
              </a:rPr>
              <a:t>Dashboard and reports preserve the measurements behind each alert.</a:t>
            </a:r>
          </a:p>
        </p:txBody>
      </p:sp>
      <p:sp>
        <p:nvSpPr>
          <p:cNvPr id="13" name="">
            <a:extLst xmlns:a="http://schemas.openxmlformats.org/drawingml/2006/main">
              <a:ext uri="{FF2B5EF4-FFF2-40B4-BE49-F238E27FC236}">
                <a16:creationId xmlns:a16="http://schemas.microsoft.com/office/drawing/2014/main" id="{03515823-D1B1-4E0C-9473-E356DE15D686}"/>
              </a:ext>
            </a:extLst>
          </p:cNvPr>
          <p:cNvSpPr>
            <a:spLocks xmlns:a="http://schemas.openxmlformats.org/drawingml/2006/main" noGrp="1"/>
          </p:cNvSpPr>
          <p:nvPr/>
        </p:nvSpPr>
        <p:spPr>
          <a:xfrm xmlns:a="http://schemas.openxmlformats.org/drawingml/2006/main">
            <a:off x="685800" y="53054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54653"/>
                </a:solidFill>
                <a:latin typeface="Arial"/>
                <a:ea typeface="Arial"/>
                <a:cs typeface="Arial"/>
              </a:defRPr>
            </a:pPr>
            <a:r>
              <a:rPr sz="1875" b="1">
                <a:solidFill>
                  <a:srgbClr val="354653"/>
                </a:solidFill>
                <a:latin typeface="Arial"/>
                <a:ea typeface="Arial"/>
                <a:cs typeface="Arial"/>
              </a:rPr>
              <a:t>Python / Streamlit / NumPy / Pandas / SciPy / Plotly / SQLite</a:t>
            </a:r>
          </a:p>
        </p:txBody>
      </p:sp>
      <p:sp>
        <p:nvSpPr>
          <p:cNvPr id="14" name="">
            <a:extLst xmlns:a="http://schemas.openxmlformats.org/drawingml/2006/main">
              <a:ext uri="{FF2B5EF4-FFF2-40B4-BE49-F238E27FC236}">
                <a16:creationId xmlns:a16="http://schemas.microsoft.com/office/drawing/2014/main" id="{20304794-176A-4C9E-8EFF-C38C97EA45D8}"/>
              </a:ext>
            </a:extLst>
          </p:cNvPr>
          <p:cNvSpPr>
            <a:spLocks xmlns:a="http://schemas.openxmlformats.org/drawingml/2006/main" noGrp="1"/>
          </p:cNvSpPr>
          <p:nvPr/>
        </p:nvSpPr>
        <p:spPr>
          <a:xfrm xmlns:a="http://schemas.openxmlformats.org/drawingml/2006/main">
            <a:off x="685800" y="586740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C7D88"/>
                </a:solidFill>
                <a:latin typeface="Arial"/>
                <a:ea typeface="Arial"/>
                <a:cs typeface="Arial"/>
              </a:defRPr>
            </a:pPr>
            <a:r>
              <a:rPr sz="1650" b="0">
                <a:solidFill>
                  <a:srgbClr val="6C7D88"/>
                </a:solidFill>
                <a:latin typeface="Arial"/>
                <a:ea typeface="Arial"/>
                <a:cs typeface="Arial"/>
              </a:rPr>
              <a:t>Classical simulation is labeled. Q-Advisor uses rules, not a trained AI model.</a:t>
            </a:r>
          </a:p>
        </p:txBody>
      </p:sp>
    </p:spTree>
    <p:extLst>
      <p:ext uri="{BB962C8B-B14F-4D97-AF65-F5344CB8AC3E}">
        <p14:creationId xmlns:p14="http://schemas.microsoft.com/office/powerpoint/2010/main" val="4138902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38FFCB-6599-4559-8C9B-66D3B041F20C}"/>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FEASIBILITY &amp; VIABILITY</a:t>
            </a:r>
          </a:p>
        </p:txBody>
      </p:sp>
      <p:sp>
        <p:nvSpPr>
          <p:cNvPr id="2" name="">
            <a:extLst xmlns:a="http://schemas.openxmlformats.org/drawingml/2006/main">
              <a:ext uri="{FF2B5EF4-FFF2-40B4-BE49-F238E27FC236}">
                <a16:creationId xmlns:a16="http://schemas.microsoft.com/office/drawing/2014/main" id="{06DD07F4-EEC1-4246-8D0B-78BAA00EBB07}"/>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working prototype with a clear pilot path</a:t>
            </a:r>
          </a:p>
        </p:txBody>
      </p:sp>
      <p:sp>
        <p:nvSpPr>
          <p:cNvPr id="3" name="">
            <a:extLst xmlns:a="http://schemas.openxmlformats.org/drawingml/2006/main">
              <a:ext uri="{FF2B5EF4-FFF2-40B4-BE49-F238E27FC236}">
                <a16:creationId xmlns:a16="http://schemas.microsoft.com/office/drawing/2014/main" id="{B22AF78D-5CAD-484E-B1FE-5296D11DB346}"/>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715C5999-C927-442C-B681-3BD613050250}"/>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92C1EEA-2DDD-4D9A-B03B-3E6AFDA0B185}"/>
              </a:ext>
            </a:extLst>
          </p:cNvPr>
          <p:cNvSpPr>
            <a:spLocks xmlns:a="http://schemas.openxmlformats.org/drawingml/2006/main" noGrp="1"/>
          </p:cNvSpPr>
          <p:nvPr/>
        </p:nvSpPr>
        <p:spPr>
          <a:xfrm xmlns:a="http://schemas.openxmlformats.org/drawingml/2006/main">
            <a:off x="685800" y="19526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WORKING TODAY</a:t>
            </a:r>
          </a:p>
        </p:txBody>
      </p:sp>
      <p:sp>
        <p:nvSpPr>
          <p:cNvPr id="6" name="">
            <a:extLst xmlns:a="http://schemas.openxmlformats.org/drawingml/2006/main">
              <a:ext uri="{FF2B5EF4-FFF2-40B4-BE49-F238E27FC236}">
                <a16:creationId xmlns:a16="http://schemas.microsoft.com/office/drawing/2014/main" id="{BE5311A1-4DD4-4CAA-B2E7-847B3FAF87CC}"/>
              </a:ext>
            </a:extLst>
          </p:cNvPr>
          <p:cNvSpPr>
            <a:spLocks xmlns:a="http://schemas.openxmlformats.org/drawingml/2006/main" noGrp="1"/>
          </p:cNvSpPr>
          <p:nvPr/>
        </p:nvSpPr>
        <p:spPr>
          <a:xfrm xmlns:a="http://schemas.openxmlformats.org/drawingml/2006/main">
            <a:off x="685800" y="2524125"/>
            <a:ext cx="509587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Local analysis, simulated faults,</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forensic bit inspection and reports.</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No quantum hardware or paid API</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is needed for the demonstration.</a:t>
            </a:r>
          </a:p>
        </p:txBody>
      </p:sp>
      <p:sp>
        <p:nvSpPr>
          <p:cNvPr id="7" name="">
            <a:extLst xmlns:a="http://schemas.openxmlformats.org/drawingml/2006/main">
              <a:ext uri="{FF2B5EF4-FFF2-40B4-BE49-F238E27FC236}">
                <a16:creationId xmlns:a16="http://schemas.microsoft.com/office/drawing/2014/main" id="{7D63C995-6D9B-4216-B9A8-D538BFC43392}"/>
              </a:ext>
            </a:extLst>
          </p:cNvPr>
          <p:cNvSpPr>
            <a:spLocks xmlns:a="http://schemas.openxmlformats.org/drawingml/2006/main" noGrp="1"/>
          </p:cNvSpPr>
          <p:nvPr/>
        </p:nvSpPr>
        <p:spPr>
          <a:xfrm xmlns:a="http://schemas.openxmlformats.org/drawingml/2006/main">
            <a:off x="685800" y="4476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8579"/>
                </a:solidFill>
                <a:latin typeface="Arial"/>
                <a:ea typeface="Arial"/>
                <a:cs typeface="Arial"/>
              </a:defRPr>
            </a:pPr>
            <a:r>
              <a:rPr sz="1875" b="1">
                <a:solidFill>
                  <a:srgbClr val="248579"/>
                </a:solidFill>
                <a:latin typeface="Arial"/>
                <a:ea typeface="Arial"/>
                <a:cs typeface="Arial"/>
              </a:rPr>
              <a:t>Measured in synthetic evaluation</a:t>
            </a:r>
          </a:p>
        </p:txBody>
      </p:sp>
      <p:sp>
        <p:nvSpPr>
          <p:cNvPr id="8" name="">
            <a:extLst xmlns:a="http://schemas.openxmlformats.org/drawingml/2006/main">
              <a:ext uri="{FF2B5EF4-FFF2-40B4-BE49-F238E27FC236}">
                <a16:creationId xmlns:a16="http://schemas.microsoft.com/office/drawing/2014/main" id="{9C934CB1-D9E1-48E8-85F7-D5672A482D3B}"/>
              </a:ext>
            </a:extLst>
          </p:cNvPr>
          <p:cNvSpPr>
            <a:spLocks xmlns:a="http://schemas.openxmlformats.org/drawingml/2006/main" noGrp="1"/>
          </p:cNvSpPr>
          <p:nvPr/>
        </p:nvSpPr>
        <p:spPr>
          <a:xfrm xmlns:a="http://schemas.openxmlformats.org/drawingml/2006/main">
            <a:off x="685800" y="501015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71 of 75 fault scenarios detected</a:t>
            </a:r>
          </a:p>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4 misses; 2 false alerts / 350 healthy windows</a:t>
            </a:r>
          </a:p>
        </p:txBody>
      </p:sp>
      <p:sp>
        <p:nvSpPr>
          <p:cNvPr id="9" name="">
            <a:extLst xmlns:a="http://schemas.openxmlformats.org/drawingml/2006/main">
              <a:ext uri="{FF2B5EF4-FFF2-40B4-BE49-F238E27FC236}">
                <a16:creationId xmlns:a16="http://schemas.microsoft.com/office/drawing/2014/main" id="{1D49D811-FC13-4B74-9163-9372C8F98D90}"/>
              </a:ext>
            </a:extLst>
          </p:cNvPr>
          <p:cNvSpPr>
            <a:spLocks xmlns:a="http://schemas.openxmlformats.org/drawingml/2006/main" noGrp="1"/>
          </p:cNvSpPr>
          <p:nvPr/>
        </p:nvSpPr>
        <p:spPr>
          <a:xfrm xmlns:a="http://schemas.openxmlformats.org/drawingml/2006/main">
            <a:off x="6619875" y="195262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NEXT STEPS</a:t>
            </a:r>
          </a:p>
        </p:txBody>
      </p:sp>
      <p:sp>
        <p:nvSpPr>
          <p:cNvPr id="10" name="">
            <a:extLst xmlns:a="http://schemas.openxmlformats.org/drawingml/2006/main">
              <a:ext uri="{FF2B5EF4-FFF2-40B4-BE49-F238E27FC236}">
                <a16:creationId xmlns:a16="http://schemas.microsoft.com/office/drawing/2014/main" id="{8A98FEBC-3B2F-437A-917B-C1E5381D1763}"/>
              </a:ext>
            </a:extLst>
          </p:cNvPr>
          <p:cNvSpPr>
            <a:spLocks xmlns:a="http://schemas.openxmlformats.org/drawingml/2006/main" noGrp="1"/>
          </p:cNvSpPr>
          <p:nvPr/>
        </p:nvSpPr>
        <p:spPr>
          <a:xfrm xmlns:a="http://schemas.openxmlformats.org/drawingml/2006/main">
            <a:off x="6619875" y="2524125"/>
            <a:ext cx="48577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1   Pilot with real QRNG recordings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2   Validate hardware adapters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3   Assess continuous deployment</a:t>
            </a:r>
          </a:p>
        </p:txBody>
      </p:sp>
      <p:sp>
        <p:nvSpPr>
          <p:cNvPr id="11" name="">
            <a:extLst xmlns:a="http://schemas.openxmlformats.org/drawingml/2006/main">
              <a:ext uri="{FF2B5EF4-FFF2-40B4-BE49-F238E27FC236}">
                <a16:creationId xmlns:a16="http://schemas.microsoft.com/office/drawing/2014/main" id="{04A00FC8-F721-4378-BFC4-91E6B0E9D73C}"/>
              </a:ext>
            </a:extLst>
          </p:cNvPr>
          <p:cNvSpPr>
            <a:spLocks xmlns:a="http://schemas.openxmlformats.org/drawingml/2006/main" noGrp="1"/>
          </p:cNvSpPr>
          <p:nvPr/>
        </p:nvSpPr>
        <p:spPr>
          <a:xfrm xmlns:a="http://schemas.openxmlformats.org/drawingml/2006/main">
            <a:off x="6619875" y="4476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8579"/>
                </a:solidFill>
                <a:latin typeface="Arial"/>
                <a:ea typeface="Arial"/>
                <a:cs typeface="Arial"/>
              </a:defRPr>
            </a:pPr>
            <a:r>
              <a:rPr sz="1875" b="1">
                <a:solidFill>
                  <a:srgbClr val="248579"/>
                </a:solidFill>
                <a:latin typeface="Arial"/>
                <a:ea typeface="Arial"/>
                <a:cs typeface="Arial"/>
              </a:rPr>
              <a:t>Proposed hosting</a:t>
            </a:r>
          </a:p>
        </p:txBody>
      </p:sp>
      <p:sp>
        <p:nvSpPr>
          <p:cNvPr id="12" name="">
            <a:extLst xmlns:a="http://schemas.openxmlformats.org/drawingml/2006/main">
              <a:ext uri="{FF2B5EF4-FFF2-40B4-BE49-F238E27FC236}">
                <a16:creationId xmlns:a16="http://schemas.microsoft.com/office/drawing/2014/main" id="{68142F42-BD4C-479B-BC97-7ECBC0A2A98B}"/>
              </a:ext>
            </a:extLst>
          </p:cNvPr>
          <p:cNvSpPr>
            <a:spLocks xmlns:a="http://schemas.openxmlformats.org/drawingml/2006/main" noGrp="1"/>
          </p:cNvSpPr>
          <p:nvPr/>
        </p:nvSpPr>
        <p:spPr>
          <a:xfrm xmlns:a="http://schemas.openxmlformats.org/drawingml/2006/main">
            <a:off x="6619875" y="50101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AWS EC2 / Linux / Docker</a:t>
            </a:r>
          </a:p>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Deployment and cost validation remain.</a:t>
            </a:r>
          </a:p>
        </p:txBody>
      </p:sp>
      <p:sp>
        <p:nvSpPr>
          <p:cNvPr id="13" name="">
            <a:extLst xmlns:a="http://schemas.openxmlformats.org/drawingml/2006/main">
              <a:ext uri="{FF2B5EF4-FFF2-40B4-BE49-F238E27FC236}">
                <a16:creationId xmlns:a16="http://schemas.microsoft.com/office/drawing/2014/main" id="{CA5CF0DC-FA20-4820-BDD4-1B14433F3ABA}"/>
              </a:ext>
            </a:extLst>
          </p:cNvPr>
          <p:cNvSpPr>
            <a:spLocks xmlns:a="http://schemas.openxmlformats.org/drawingml/2006/main" noGrp="1"/>
          </p:cNvSpPr>
          <p:nvPr/>
        </p:nvSpPr>
        <p:spPr>
          <a:xfrm xmlns:a="http://schemas.openxmlformats.org/drawingml/2006/main">
            <a:off x="685800" y="60102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C7D88"/>
                </a:solidFill>
                <a:latin typeface="Arial"/>
                <a:ea typeface="Arial"/>
                <a:cs typeface="Arial"/>
              </a:defRPr>
            </a:pPr>
            <a:r>
              <a:rPr sz="1575" b="0">
                <a:solidFill>
                  <a:srgbClr val="6C7D88"/>
                </a:solidFill>
                <a:latin typeface="Arial"/>
                <a:ea typeface="Arial"/>
                <a:cs typeface="Arial"/>
              </a:rPr>
              <a:t>Simulation results do not establish performance on physical QRNG hardware.</a:t>
            </a:r>
          </a:p>
        </p:txBody>
      </p:sp>
    </p:spTree>
    <p:extLst>
      <p:ext uri="{BB962C8B-B14F-4D97-AF65-F5344CB8AC3E}">
        <p14:creationId xmlns:p14="http://schemas.microsoft.com/office/powerpoint/2010/main" val="779453181"/>
      </p:ext>
    </p:extLst>
  </p:cSld>
</p:sld>
</file>

<file path=ppt/slides/slide6.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C3AC451-8FA8-4542-9AE4-CFD21DB115C1}"/>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IMPACT &amp; BENEFITS</a:t>
            </a:r>
          </a:p>
        </p:txBody>
      </p:sp>
      <p:sp>
        <p:nvSpPr>
          <p:cNvPr id="2" name="">
            <a:extLst xmlns:a="http://schemas.openxmlformats.org/drawingml/2006/main">
              <a:ext uri="{FF2B5EF4-FFF2-40B4-BE49-F238E27FC236}">
                <a16:creationId xmlns:a16="http://schemas.microsoft.com/office/drawing/2014/main" id="{25B989D1-74D4-4969-B818-25A3468EC0E0}"/>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clearer investigation for QRNG engineers</a:t>
            </a:r>
          </a:p>
        </p:txBody>
      </p:sp>
      <p:sp>
        <p:nvSpPr>
          <p:cNvPr id="3" name="">
            <a:extLst xmlns:a="http://schemas.openxmlformats.org/drawingml/2006/main">
              <a:ext uri="{FF2B5EF4-FFF2-40B4-BE49-F238E27FC236}">
                <a16:creationId xmlns:a16="http://schemas.microsoft.com/office/drawing/2014/main" id="{8FD06751-42F5-4278-95F8-CEF866EEEE51}"/>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88387358-6CD0-4A7B-9067-69FB4ECCF715}"/>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3B35599-4B3C-4C40-8164-7E6A3D37626B}"/>
              </a:ext>
            </a:extLst>
          </p:cNvPr>
          <p:cNvSpPr>
            <a:spLocks xmlns:a="http://schemas.openxmlformats.org/drawingml/2006/main" noGrp="1"/>
          </p:cNvSpPr>
          <p:nvPr/>
        </p:nvSpPr>
        <p:spPr>
          <a:xfrm xmlns:a="http://schemas.openxmlformats.org/drawingml/2006/main">
            <a:off x="685800" y="1943100"/>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Detect &amp; locate</a:t>
            </a:r>
          </a:p>
        </p:txBody>
      </p:sp>
      <p:sp>
        <p:nvSpPr>
          <p:cNvPr id="6" name="">
            <a:extLst xmlns:a="http://schemas.openxmlformats.org/drawingml/2006/main">
              <a:ext uri="{FF2B5EF4-FFF2-40B4-BE49-F238E27FC236}">
                <a16:creationId xmlns:a16="http://schemas.microsoft.com/office/drawing/2014/main" id="{47141B03-3143-40B7-A6A8-02863C6EEF04}"/>
              </a:ext>
            </a:extLst>
          </p:cNvPr>
          <p:cNvSpPr>
            <a:spLocks xmlns:a="http://schemas.openxmlformats.org/drawingml/2006/main" noGrp="1"/>
          </p:cNvSpPr>
          <p:nvPr/>
        </p:nvSpPr>
        <p:spPr>
          <a:xfrm xmlns:a="http://schemas.openxmlformats.org/drawingml/2006/main">
            <a:off x="4752975" y="194310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Find persistent changes and the first flagged window.</a:t>
            </a:r>
          </a:p>
        </p:txBody>
      </p:sp>
      <p:sp>
        <p:nvSpPr>
          <p:cNvPr id="7" name="">
            <a:extLst xmlns:a="http://schemas.openxmlformats.org/drawingml/2006/main">
              <a:ext uri="{FF2B5EF4-FFF2-40B4-BE49-F238E27FC236}">
                <a16:creationId xmlns:a16="http://schemas.microsoft.com/office/drawing/2014/main" id="{87C1FD95-FA5D-4AFD-B5CD-20DD6E60BF0D}"/>
              </a:ext>
            </a:extLst>
          </p:cNvPr>
          <p:cNvSpPr>
            <a:spLocks xmlns:a="http://schemas.openxmlformats.org/drawingml/2006/main" noGrp="1"/>
          </p:cNvSpPr>
          <p:nvPr/>
        </p:nvSpPr>
        <p:spPr>
          <a:xfrm xmlns:a="http://schemas.openxmlformats.org/drawingml/2006/main">
            <a:off x="685800" y="296227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Explain &amp; project</a:t>
            </a:r>
          </a:p>
        </p:txBody>
      </p:sp>
      <p:sp>
        <p:nvSpPr>
          <p:cNvPr id="8" name="">
            <a:extLst xmlns:a="http://schemas.openxmlformats.org/drawingml/2006/main">
              <a:ext uri="{FF2B5EF4-FFF2-40B4-BE49-F238E27FC236}">
                <a16:creationId xmlns:a16="http://schemas.microsoft.com/office/drawing/2014/main" id="{21CE7418-EB99-4683-8224-07129B4DE104}"/>
              </a:ext>
            </a:extLst>
          </p:cNvPr>
          <p:cNvSpPr>
            <a:spLocks xmlns:a="http://schemas.openxmlformats.org/drawingml/2006/main" noGrp="1"/>
          </p:cNvSpPr>
          <p:nvPr/>
        </p:nvSpPr>
        <p:spPr>
          <a:xfrm xmlns:a="http://schemas.openxmlformats.org/drawingml/2006/main">
            <a:off x="4752975" y="2962275"/>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Show statistical signatures and conditional trends.</a:t>
            </a:r>
          </a:p>
        </p:txBody>
      </p:sp>
      <p:sp>
        <p:nvSpPr>
          <p:cNvPr id="9" name="">
            <a:extLst xmlns:a="http://schemas.openxmlformats.org/drawingml/2006/main">
              <a:ext uri="{FF2B5EF4-FFF2-40B4-BE49-F238E27FC236}">
                <a16:creationId xmlns:a16="http://schemas.microsoft.com/office/drawing/2014/main" id="{4640A0F7-D2A0-4648-B3EA-72BC379790FE}"/>
              </a:ext>
            </a:extLst>
          </p:cNvPr>
          <p:cNvSpPr>
            <a:spLocks xmlns:a="http://schemas.openxmlformats.org/drawingml/2006/main" noGrp="1"/>
          </p:cNvSpPr>
          <p:nvPr/>
        </p:nvSpPr>
        <p:spPr>
          <a:xfrm xmlns:a="http://schemas.openxmlformats.org/drawingml/2006/main">
            <a:off x="685800" y="3981450"/>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Recommend &amp; record</a:t>
            </a:r>
          </a:p>
        </p:txBody>
      </p:sp>
      <p:sp>
        <p:nvSpPr>
          <p:cNvPr id="10" name="">
            <a:extLst xmlns:a="http://schemas.openxmlformats.org/drawingml/2006/main">
              <a:ext uri="{FF2B5EF4-FFF2-40B4-BE49-F238E27FC236}">
                <a16:creationId xmlns:a16="http://schemas.microsoft.com/office/drawing/2014/main" id="{7A074F3E-5FC6-42F2-BBEC-63AF669A52FD}"/>
              </a:ext>
            </a:extLst>
          </p:cNvPr>
          <p:cNvSpPr>
            <a:spLocks xmlns:a="http://schemas.openxmlformats.org/drawingml/2006/main" noGrp="1"/>
          </p:cNvSpPr>
          <p:nvPr/>
        </p:nvSpPr>
        <p:spPr>
          <a:xfrm xmlns:a="http://schemas.openxmlformats.org/drawingml/2006/main">
            <a:off x="4752975" y="398145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Guide investigation and preserve a health passport.</a:t>
            </a:r>
          </a:p>
        </p:txBody>
      </p:sp>
      <p:sp>
        <p:nvSpPr>
          <p:cNvPr id="11" name="">
            <a:extLst xmlns:a="http://schemas.openxmlformats.org/drawingml/2006/main">
              <a:ext uri="{FF2B5EF4-FFF2-40B4-BE49-F238E27FC236}">
                <a16:creationId xmlns:a16="http://schemas.microsoft.com/office/drawing/2014/main" id="{03DF18ED-0B2C-43C4-9408-D620FBB0769A}"/>
              </a:ext>
            </a:extLst>
          </p:cNvPr>
          <p:cNvSpPr>
            <a:spLocks xmlns:a="http://schemas.openxmlformats.org/drawingml/2006/main" noGrp="1"/>
          </p:cNvSpPr>
          <p:nvPr/>
        </p:nvSpPr>
        <p:spPr>
          <a:xfrm xmlns:a="http://schemas.openxmlformats.org/drawingml/2006/main">
            <a:off x="685800" y="501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8BC"/>
                </a:solidFill>
                <a:latin typeface="Arial"/>
                <a:ea typeface="Arial"/>
                <a:cs typeface="Arial"/>
              </a:defRPr>
            </a:pPr>
            <a:r>
              <a:rPr sz="1950" b="1">
                <a:solidFill>
                  <a:srgbClr val="2878BC"/>
                </a:solidFill>
                <a:latin typeface="Arial"/>
                <a:ea typeface="Arial"/>
                <a:cs typeface="Arial"/>
              </a:rPr>
              <a:t>For QRNG researchers, device engineers and security laboratories.</a:t>
            </a:r>
          </a:p>
        </p:txBody>
      </p:sp>
      <p:sp>
        <p:nvSpPr>
          <p:cNvPr id="12" name="">
            <a:extLst xmlns:a="http://schemas.openxmlformats.org/drawingml/2006/main">
              <a:ext uri="{FF2B5EF4-FFF2-40B4-BE49-F238E27FC236}">
                <a16:creationId xmlns:a16="http://schemas.microsoft.com/office/drawing/2014/main" id="{9B0AE98D-C16D-475F-81D0-1FE63F83C8A9}"/>
              </a:ext>
            </a:extLst>
          </p:cNvPr>
          <p:cNvSpPr>
            <a:spLocks xmlns:a="http://schemas.openxmlformats.org/drawingml/2006/main" noGrp="1"/>
          </p:cNvSpPr>
          <p:nvPr/>
        </p:nvSpPr>
        <p:spPr>
          <a:xfrm xmlns:a="http://schemas.openxmlformats.org/drawingml/2006/main">
            <a:off x="685800" y="55911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When did it change? What is the evidence? What should we check?</a:t>
            </a:r>
          </a:p>
        </p:txBody>
      </p:sp>
      <p:sp>
        <p:nvSpPr>
          <p:cNvPr id="13" name="">
            <a:extLst xmlns:a="http://schemas.openxmlformats.org/drawingml/2006/main">
              <a:ext uri="{FF2B5EF4-FFF2-40B4-BE49-F238E27FC236}">
                <a16:creationId xmlns:a16="http://schemas.microsoft.com/office/drawing/2014/main" id="{ADFA9D1A-8CBB-4E9B-9AE5-C160608DA5EE}"/>
              </a:ext>
            </a:extLst>
          </p:cNvPr>
          <p:cNvSpPr>
            <a:spLocks xmlns:a="http://schemas.openxmlformats.org/drawingml/2006/main" noGrp="1"/>
          </p:cNvSpPr>
          <p:nvPr/>
        </p:nvSpPr>
        <p:spPr>
          <a:xfrm xmlns:a="http://schemas.openxmlformats.org/drawingml/2006/main">
            <a:off x="685800" y="60674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C7D88"/>
                </a:solidFill>
                <a:latin typeface="Arial"/>
                <a:ea typeface="Arial"/>
                <a:cs typeface="Arial"/>
              </a:defRPr>
            </a:pPr>
            <a:r>
              <a:rPr sz="1500" b="0">
                <a:solidFill>
                  <a:srgbClr val="6C7D88"/>
                </a:solidFill>
                <a:latin typeface="Arial"/>
                <a:ea typeface="Arial"/>
                <a:cs typeface="Arial"/>
              </a:rPr>
              <a:t>Statistical analysis alone cannot establish quantum origin or cryptographic security.</a:t>
            </a:r>
          </a:p>
        </p:txBody>
      </p:sp>
    </p:spTree>
    <p:extLst>
      <p:ext uri="{BB962C8B-B14F-4D97-AF65-F5344CB8AC3E}">
        <p14:creationId xmlns:p14="http://schemas.microsoft.com/office/powerpoint/2010/main" val="18124143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2026-09-25T10:30:23.3210000Z</dcterms:created>
  <dcterms:modified xsi:type="dcterms:W3CDTF">2026-09-25T10:30:23.3210000Z</dcterms:modified>
</coreProperties>
</file>