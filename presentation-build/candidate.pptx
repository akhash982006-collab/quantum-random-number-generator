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7dd0c9e4194521" /><Relationship Type="http://schemas.openxmlformats.org/officeDocument/2006/relationships/extended-properties" Target="/docProps/app.xml" Id="Raf4df773dff04696" /><Relationship Type="http://schemas.openxmlformats.org/officeDocument/2006/relationships/officeDocument" Target="/ppt/presentation.xml" Id="Rd4c254ce43ac48f7" /></Relationships>
</file>

<file path=ppt/presentation.xml><?xml version="1.0" encoding="utf-8"?>
<p:presentation xmlns:p="http://schemas.openxmlformats.org/presentationml/2006/main">
  <p:sldMasterIdLst>
    <p:sldMasterId xmlns:r="http://schemas.openxmlformats.org/officeDocument/2006/relationships" id="2147483648" r:id="Rdbe107abef78426c"/>
  </p:sldMasterIdLst>
  <p:notesMasterIdLst>
    <p:notesMasterId xmlns:r="http://schemas.openxmlformats.org/officeDocument/2006/relationships" r:id="R12977bc62d2947d0"/>
  </p:notesMasterIdLst>
  <p:sldIdLst>
    <p:sldId xmlns:r="http://schemas.openxmlformats.org/officeDocument/2006/relationships" id="256" r:id="R075d46187fed4f04"/>
    <p:sldId xmlns:r="http://schemas.openxmlformats.org/officeDocument/2006/relationships" id="257" r:id="R26be39c118494f8b"/>
    <p:sldId xmlns:r="http://schemas.openxmlformats.org/officeDocument/2006/relationships" id="258" r:id="R9439fc8545f64f55"/>
    <p:sldId xmlns:r="http://schemas.openxmlformats.org/officeDocument/2006/relationships" id="259" r:id="Ra776431fe23d41cb"/>
    <p:sldId xmlns:r="http://schemas.openxmlformats.org/officeDocument/2006/relationships" id="260" r:id="R26ef6fedded34af6"/>
    <p:sldId xmlns:r="http://schemas.openxmlformats.org/officeDocument/2006/relationships" id="261" r:id="R0246cd5b3bd243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fada601b6842d3" /><Relationship Type="http://schemas.openxmlformats.org/officeDocument/2006/relationships/slideMaster" Target="/ppt/slideMasters/slideMaster1.xml" Id="Rdbe107abef78426c" /><Relationship Type="http://schemas.openxmlformats.org/officeDocument/2006/relationships/notesMaster" Target="/ppt/notesMasters/notesMaster1.xml" Id="R12977bc62d2947d0" /><Relationship Type="http://schemas.openxmlformats.org/officeDocument/2006/relationships/presProps" Target="/ppt/presProps.xml" Id="R40067859b20f4fa0" /><Relationship Type="http://schemas.openxmlformats.org/officeDocument/2006/relationships/tableStyles" Target="/ppt/tableStyles.xml" Id="R436b733eb9da4f1f" /><Relationship Type="http://schemas.openxmlformats.org/officeDocument/2006/relationships/slide" Target="/ppt/slides/slide1.xml" Id="R075d46187fed4f04" /><Relationship Type="http://schemas.openxmlformats.org/officeDocument/2006/relationships/slide" Target="/ppt/slides/slide2.xml" Id="R26be39c118494f8b" /><Relationship Type="http://schemas.openxmlformats.org/officeDocument/2006/relationships/slide" Target="/ppt/slides/slide3.xml" Id="R9439fc8545f64f55" /><Relationship Type="http://schemas.openxmlformats.org/officeDocument/2006/relationships/slide" Target="/ppt/slides/slide4.xml" Id="Ra776431fe23d41cb" /><Relationship Type="http://schemas.openxmlformats.org/officeDocument/2006/relationships/slide" Target="/ppt/slides/slide5.xml" Id="R26ef6fedded34af6" /><Relationship Type="http://schemas.openxmlformats.org/officeDocument/2006/relationships/slide" Target="/ppt/slides/slide6.xml" Id="R0246cd5b3bd243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82beb326514e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468c53a3624e47" /><Relationship Type="http://schemas.openxmlformats.org/officeDocument/2006/relationships/notesMaster" Target="/ppt/notesMasters/notesMaster1.xml" Id="R7051a83c889349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619ce3698c4c59" /><Relationship Type="http://schemas.openxmlformats.org/officeDocument/2006/relationships/notesMaster" Target="/ppt/notesMasters/notesMaster1.xml" Id="Reec4ce35707642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6bafa406b34a86" /><Relationship Type="http://schemas.openxmlformats.org/officeDocument/2006/relationships/notesMaster" Target="/ppt/notesMasters/notesMaster1.xml" Id="R70f961f17f434a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d81118bf5e4b95" /><Relationship Type="http://schemas.openxmlformats.org/officeDocument/2006/relationships/notesMaster" Target="/ppt/notesMasters/notesMaster1.xml" Id="Ra44d06fca27e42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f654e7c814407d" /><Relationship Type="http://schemas.openxmlformats.org/officeDocument/2006/relationships/notesMaster" Target="/ppt/notesMasters/notesMaster1.xml" Id="R8dcce8ece69a46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05606f30d848f0" /><Relationship Type="http://schemas.openxmlformats.org/officeDocument/2006/relationships/notesMaster" Target="/ppt/notesMasters/notesMaster1.xml" Id="R503a6e66cfec40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30 seconds: A QRNG uses a quantum physical process to generate random numbers. The detector and software around it can still introduce unwanted patterns. Q-Sentinel analyzes the resulting binary data and helps engineers investigate changes. Our current prototype works with uploaded files and classical simulated streams.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Define a bitstream as a sequence of zeros and ones. NIST tests look for specific statistical abnormalities. A whole-file result does not by itself explain when an issue began. A balanced repeating 0101 sequence illustrates why zero/one balance alone is insufficient. Q-Sentinel accepts already-digitized bits, not analog optical waveforms.</a:t>
            </a:r>
          </a:p>
          <a:p xmlns:a="http://schemas.openxmlformats.org/drawingml/2006/main">
            <a:r>
              <a:t/>
            </a:r>
          </a:p>
          <a:p xmlns:a="http://schemas.openxmlformats.org/drawingml/2006/main">
            <a:r>
              <a:t>Sources: User-supplied competition brief, WO-012. NIST SP 800-22 Rev.1a: https://csrc.nist.gov/pubs/sp/800/22/r1/upd1/final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 fixed scenario starts a slow bias drift at window 41 and introduces stuck output at window 91. The detector sees the resulting bits, not the injection labels. It flags Early Warning at window 56, temporarily returns to Healthy at 64, becomes Degraded at 66 and Critical at 92. The graph is sampled every fifth window for readability. The event labels come from the full-resolution results. Show that the early warning is an observation from this demo, not a guaranteed sequence for every fault. Health is an operational indicator, not a security probability.</a:t>
            </a:r>
          </a:p>
          <a:p xmlns:a="http://schemas.openxmlformats.org/drawingml/2006/main">
            <a:r>
              <a:t/>
            </a:r>
          </a:p>
          <a:p xmlns:a="http://schemas.openxmlformats.org/drawingml/2006/main">
            <a:r>
              <a:t>Sources: q-sentinel/output/sample-passport.json, windows and events. q-sentinel/simulation/qrng_twin.py, guided_demo().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Windowing means dividing a long stream into equal sections so we can locate changes. A baseline is reference behavior, taken from a supplied dataset or the first 30 windows, which we label unverified. CUSUM stands for cumulative sum control chart and adds up repeated small deviations. Six NIST families are Frequency, Block Frequency, Runs, Longest Run, DFT, and Cumulative Sums in both directions. Forecasting uses a robust Theil-Sen slope over 20 comparable windows with a Spearman trend check. Q-Advisor uses deterministic rules and templates, not a generative AI model. A worker handles analysis while the interface polls progress.</a:t>
            </a:r>
          </a:p>
          <a:p xmlns:a="http://schemas.openxmlformats.org/drawingml/2006/main">
            <a:r>
              <a:t/>
            </a:r>
          </a:p>
          <a:p xmlns:a="http://schemas.openxmlformats.org/drawingml/2006/main">
            <a:r>
              <a:t>Sources: q-sentinel/core/, q-sentinel/nist/suite.py, q-sentinel/requirements.txt. NIST SP 800-22: https://csrc.nist.gov/pubs/sp/800/22/r1/upd1/final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These are measured prototype results, not claims of production readiness. Across five evaluation seeds, 71 of 75 injected-fault scenarios were detected. Do not call this overall accuracy because it does not incorporate the false-alert rate. The NIST-only comparator requires two applicable families failing in two consecutive windows. Of the 75 fault cases, 16 had earlier alerts, 41 equal detection times, 3 later alerts and 15 no jointly available detection time. Those 15 are not early-warning wins. The 2 false alert transitions occurred across 350 healthy monitoring windows. Runtime is approximately 0.866 seconds for one million bits and 10.344 seconds for ten million bits in the available Windows environment. Commercial demand and pricing have not been validated. The next viable step is a laboratory pilot, not a security-critical deployment.</a:t>
            </a:r>
          </a:p>
          <a:p xmlns:a="http://schemas.openxmlformats.org/drawingml/2006/main">
            <a:r>
              <a:t/>
            </a:r>
          </a:p>
          <a:p xmlns:a="http://schemas.openxmlformats.org/drawingml/2006/main">
            <a:r>
              <a:t>Sources: q-sentinel/output/evaluation-summary.json; q-sentinel/output/evaluation.csv; q-sentinel/VALIDATION.md.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about 40 seconds: Present these as intended engineering benefits, not measured reductions in downtime or cost. Our current product is most suitable for research and device development. The contribution is the connected workflow: statistical monitoring leads to exact-window evidence and a reproducible investigation record. A hardware diagnosis still requires device measurements. The simulator is classical. Formal SP 800-90B assessment and the remaining NIST test families are future work. Finish by offering to show the Failure Lab and forensic view.</a:t>
            </a:r>
          </a:p>
          <a:p xmlns:a="http://schemas.openxmlformats.org/drawingml/2006/main">
            <a:r>
              <a:t/>
            </a:r>
          </a:p>
          <a:p xmlns:a="http://schemas.openxmlformats.org/drawingml/2006/main">
            <a:r>
              <a:t>Sources: q-sentinel/README.md; q-sentinel/core/engine.py. NIST SP 800-90B: https://csrc.nist.gov/pubs/sp/800/90/b/final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8f22e376ee4d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0e787142704223" /><Relationship Type="http://schemas.openxmlformats.org/officeDocument/2006/relationships/slideLayout" Target="/ppt/slideLayouts/slideLayout1.xml" Id="R459311d1450b49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9311d1450b49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5f7c3083b54385" /><Relationship Type="http://schemas.openxmlformats.org/officeDocument/2006/relationships/notesSlide" Target="/ppt/notesSlides/notesSlide1.xml" Id="Rfb2e87780cd341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d9b52fa34b41ad" /><Relationship Type="http://schemas.openxmlformats.org/officeDocument/2006/relationships/notesSlide" Target="/ppt/notesSlides/notesSlide2.xml" Id="R16d1ce34dd524e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9627dd6d3142ea" /><Relationship Type="http://schemas.openxmlformats.org/officeDocument/2006/relationships/chart" Target="/ppt/slides/charts/chart1.xml" Id="R4afbdeba479d4eaf" /><Relationship Type="http://schemas.openxmlformats.org/officeDocument/2006/relationships/notesSlide" Target="/ppt/notesSlides/notesSlide3.xml" Id="Re795ed06b1584f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40aceac12544ba" /><Relationship Type="http://schemas.openxmlformats.org/officeDocument/2006/relationships/notesSlide" Target="/ppt/notesSlides/notesSlide4.xml" Id="R60ed0a33972f4f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0c584042f44e9b" /><Relationship Type="http://schemas.openxmlformats.org/officeDocument/2006/relationships/notesSlide" Target="/ppt/notesSlides/notesSlide5.xml" Id="R60f7a92f24e043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1d37697d9640b9" /><Relationship Type="http://schemas.openxmlformats.org/officeDocument/2006/relationships/notesSlide" Target="/ppt/notesSlides/notesSlide6.xml" Id="R47556ea99544452c" /></Relationships>
</file>

<file path=ppt/slides/charts/chart1.xml><?xml version="1.0" encoding="utf-8"?>
<c:chartSpace xmlns:c="http://schemas.openxmlformats.org/drawingml/2006/chart">
  <c:lang val="en-US"/>
  <c:chart>
    <c:plotArea>
      <c:lineChart>
        <c:grouping val="standard"/>
        <c:varyColors val="0"/>
        <c:ser>
          <c:idx val="0"/>
          <c:order val="0"/>
          <c:tx>
            <c:v>Operational health</c:v>
          </c:tx>
          <c:spPr>
            <a:ln xmlns:a="http://schemas.openxmlformats.org/drawingml/2006/main" w="28575">
              <a:solidFill>
                <a:srgbClr val="2878BC"/>
              </a:solidFill>
            </a:ln>
          </c:spPr>
          <c:marker>
            <c:symbol val="circle"/>
            <c:size val="5"/>
            <c:spPr>
              <a:solidFill xmlns:a="http://schemas.openxmlformats.org/drawingml/2006/main">
                <a:srgbClr val="2878BC"/>
              </a:solidFill>
            </c:spPr>
          </c:marker>
          <c:cat>
            <c:numLit>
              <c:formatCode>General</c:formatCode>
              <c:ptCount val="14"/>
              <c:pt idx="0">
                <c:v>31</c:v>
              </c:pt>
              <c:pt idx="1">
                <c:v>36</c:v>
              </c:pt>
              <c:pt idx="2">
                <c:v>41</c:v>
              </c:pt>
              <c:pt idx="3">
                <c:v>46</c:v>
              </c:pt>
              <c:pt idx="4">
                <c:v>51</c:v>
              </c:pt>
              <c:pt idx="5">
                <c:v>56</c:v>
              </c:pt>
              <c:pt idx="6">
                <c:v>61</c:v>
              </c:pt>
              <c:pt idx="7">
                <c:v>66</c:v>
              </c:pt>
              <c:pt idx="8">
                <c:v>71</c:v>
              </c:pt>
              <c:pt idx="9">
                <c:v>76</c:v>
              </c:pt>
              <c:pt idx="10">
                <c:v>81</c:v>
              </c:pt>
              <c:pt idx="11">
                <c:v>86</c:v>
              </c:pt>
              <c:pt idx="12">
                <c:v>91</c:v>
              </c:pt>
              <c:pt idx="13">
                <c:v>96</c:v>
              </c:pt>
            </c:numLit>
          </c:cat>
          <c:val>
            <c:numLit>
              <c:formatCode>General</c:formatCode>
              <c:ptCount val="14"/>
              <c:pt idx="0">
                <c:v>97.89767543365998</c:v>
              </c:pt>
              <c:pt idx="1">
                <c:v>93.47313615137855</c:v>
              </c:pt>
              <c:pt idx="2">
                <c:v>94.14665556796044</c:v>
              </c:pt>
              <c:pt idx="3">
                <c:v>79.71896073023201</c:v>
              </c:pt>
              <c:pt idx="4">
                <c:v>84.04246754253866</c:v>
              </c:pt>
              <c:pt idx="5">
                <c:v>74.90914247288273</c:v>
              </c:pt>
              <c:pt idx="6">
                <c:v>90.7151666531727</c:v>
              </c:pt>
              <c:pt idx="7">
                <c:v>67.43814067809498</c:v>
              </c:pt>
              <c:pt idx="8">
                <c:v>63.9719384396493</c:v>
              </c:pt>
              <c:pt idx="9">
                <c:v>77.77777777777777</c:v>
              </c:pt>
              <c:pt idx="10">
                <c:v>79.53064976943892</c:v>
              </c:pt>
              <c:pt idx="11">
                <c:v>69.12787424519175</c:v>
              </c:pt>
              <c:pt idx="12">
                <c:v>0</c:v>
              </c:pt>
              <c:pt idx="13">
                <c:v>0</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Window number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B88"/>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5ECF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Health score / 100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B88"/>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3F9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624E70-3F0D-420A-93D7-E7974242A749}"/>
              </a:ext>
            </a:extLst>
          </p:cNvPr>
          <p:cNvSpPr>
            <a:spLocks xmlns:a="http://schemas.openxmlformats.org/drawingml/2006/main" noGrp="1"/>
          </p:cNvSpPr>
          <p:nvPr/>
        </p:nvSpPr>
        <p:spPr>
          <a:xfrm xmlns:a="http://schemas.openxmlformats.org/drawingml/2006/main">
            <a:off x="742950" y="1047750"/>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8BC"/>
                </a:solidFill>
                <a:latin typeface="Arial"/>
                <a:ea typeface="Arial"/>
                <a:cs typeface="Arial"/>
              </a:defRPr>
            </a:pPr>
            <a:r>
              <a:rPr sz="5700" b="1">
                <a:solidFill>
                  <a:srgbClr val="2878BC"/>
                </a:solidFill>
                <a:latin typeface="Arial"/>
                <a:ea typeface="Arial"/>
                <a:cs typeface="Arial"/>
              </a:rPr>
              <a:t>Q-SENTINEL</a:t>
            </a:r>
          </a:p>
        </p:txBody>
      </p:sp>
      <p:sp>
        <p:nvSpPr>
          <p:cNvPr id="2" name="">
            <a:extLst xmlns:a="http://schemas.openxmlformats.org/drawingml/2006/main">
              <a:ext uri="{FF2B5EF4-FFF2-40B4-BE49-F238E27FC236}">
                <a16:creationId xmlns:a16="http://schemas.microsoft.com/office/drawing/2014/main" id="{7D303581-AC07-424B-B269-23356CF3914B}"/>
              </a:ext>
            </a:extLst>
          </p:cNvPr>
          <p:cNvSpPr>
            <a:spLocks xmlns:a="http://schemas.openxmlformats.org/drawingml/2006/main" noGrp="1"/>
          </p:cNvSpPr>
          <p:nvPr/>
        </p:nvSpPr>
        <p:spPr>
          <a:xfrm xmlns:a="http://schemas.openxmlformats.org/drawingml/2006/main">
            <a:off x="781050" y="2190750"/>
            <a:ext cx="1019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4424F"/>
                </a:solidFill>
                <a:latin typeface="Arial"/>
                <a:ea typeface="Arial"/>
                <a:cs typeface="Arial"/>
              </a:defRPr>
            </a:pPr>
            <a:r>
              <a:rPr sz="3225" b="1">
                <a:solidFill>
                  <a:srgbClr val="34424F"/>
                </a:solidFill>
                <a:latin typeface="Arial"/>
                <a:ea typeface="Arial"/>
                <a:cs typeface="Arial"/>
              </a:rPr>
              <a:t>QRNG reliability and early warning</a:t>
            </a:r>
          </a:p>
        </p:txBody>
      </p:sp>
      <p:sp>
        <p:nvSpPr>
          <p:cNvPr id="3" name="">
            <a:extLst xmlns:a="http://schemas.openxmlformats.org/drawingml/2006/main">
              <a:ext uri="{FF2B5EF4-FFF2-40B4-BE49-F238E27FC236}">
                <a16:creationId xmlns:a16="http://schemas.microsoft.com/office/drawing/2014/main" id="{B0DF0B3A-0710-429E-9C84-95A256D179D5}"/>
              </a:ext>
            </a:extLst>
          </p:cNvPr>
          <p:cNvSpPr>
            <a:spLocks xmlns:a="http://schemas.openxmlformats.org/drawingml/2006/main" noGrp="1"/>
          </p:cNvSpPr>
          <p:nvPr/>
        </p:nvSpPr>
        <p:spPr>
          <a:xfrm xmlns:a="http://schemas.openxmlformats.org/drawingml/2006/main">
            <a:off x="800100" y="3209925"/>
            <a:ext cx="1019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424F"/>
                </a:solidFill>
                <a:latin typeface="Arial"/>
                <a:ea typeface="Arial"/>
                <a:cs typeface="Arial"/>
              </a:defRPr>
            </a:pPr>
            <a:r>
              <a:rPr sz="2250" b="0">
                <a:solidFill>
                  <a:srgbClr val="34424F"/>
                </a:solidFill>
                <a:latin typeface="Arial"/>
                <a:ea typeface="Arial"/>
                <a:cs typeface="Arial"/>
              </a:rPr>
              <a:t>Helping engineers find when a random bitstream changes</a:t>
            </a:r>
          </a:p>
          <a:p xmlns:a="http://schemas.openxmlformats.org/drawingml/2006/main">
            <a:pPr>
              <a:defRPr sz="2250" b="0">
                <a:solidFill>
                  <a:srgbClr val="34424F"/>
                </a:solidFill>
                <a:latin typeface="Arial"/>
                <a:ea typeface="Arial"/>
                <a:cs typeface="Arial"/>
              </a:defRPr>
            </a:pPr>
            <a:r>
              <a:rPr sz="2250" b="0">
                <a:solidFill>
                  <a:srgbClr val="34424F"/>
                </a:solidFill>
                <a:latin typeface="Arial"/>
                <a:ea typeface="Arial"/>
                <a:cs typeface="Arial"/>
              </a:rPr>
              <a:t>and understand the evidence behind it.</a:t>
            </a:r>
          </a:p>
        </p:txBody>
      </p:sp>
      <p:sp>
        <p:nvSpPr>
          <p:cNvPr id="4" name="">
            <a:extLst xmlns:a="http://schemas.openxmlformats.org/drawingml/2006/main">
              <a:ext uri="{FF2B5EF4-FFF2-40B4-BE49-F238E27FC236}">
                <a16:creationId xmlns:a16="http://schemas.microsoft.com/office/drawing/2014/main" id="{87A4DD7A-A953-4CF7-BAAF-A536137D2549}"/>
              </a:ext>
            </a:extLst>
          </p:cNvPr>
          <p:cNvSpPr>
            <a:spLocks xmlns:a="http://schemas.openxmlformats.org/drawingml/2006/main" noGrp="1"/>
          </p:cNvSpPr>
          <p:nvPr/>
        </p:nvSpPr>
        <p:spPr>
          <a:xfrm xmlns:a="http://schemas.openxmlformats.org/drawingml/2006/main">
            <a:off x="800100" y="5238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87B88"/>
                </a:solidFill>
                <a:latin typeface="Arial"/>
                <a:ea typeface="Arial"/>
                <a:cs typeface="Arial"/>
              </a:defRPr>
            </a:pPr>
            <a:r>
              <a:rPr sz="1725" b="0">
                <a:solidFill>
                  <a:srgbClr val="687B88"/>
                </a:solidFill>
                <a:latin typeface="Arial"/>
                <a:ea typeface="Arial"/>
                <a:cs typeface="Arial"/>
              </a:rPr>
              <a:t>Quantum Random Number Generator (QRNG) Entropy Validator</a:t>
            </a:r>
          </a:p>
        </p:txBody>
      </p:sp>
      <p:sp>
        <p:nvSpPr>
          <p:cNvPr id="5" name="">
            <a:extLst xmlns:a="http://schemas.openxmlformats.org/drawingml/2006/main">
              <a:ext uri="{FF2B5EF4-FFF2-40B4-BE49-F238E27FC236}">
                <a16:creationId xmlns:a16="http://schemas.microsoft.com/office/drawing/2014/main" id="{E15230F3-7251-4282-A75F-83F7A6E17550}"/>
              </a:ext>
            </a:extLst>
          </p:cNvPr>
          <p:cNvSpPr>
            <a:spLocks xmlns:a="http://schemas.openxmlformats.org/drawingml/2006/main" noGrp="1"/>
          </p:cNvSpPr>
          <p:nvPr/>
        </p:nvSpPr>
        <p:spPr>
          <a:xfrm xmlns:a="http://schemas.openxmlformats.org/drawingml/2006/main">
            <a:off x="800100" y="580072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68C83"/>
                </a:solidFill>
                <a:latin typeface="Arial"/>
                <a:ea typeface="Arial"/>
                <a:cs typeface="Arial"/>
              </a:defRPr>
            </a:pPr>
            <a:r>
              <a:rPr sz="1500" b="0">
                <a:solidFill>
                  <a:srgbClr val="268C83"/>
                </a:solidFill>
                <a:latin typeface="Arial"/>
                <a:ea typeface="Arial"/>
                <a:cs typeface="Arial"/>
              </a:rPr>
              <a:t>Hackathon prototype</a:t>
            </a:r>
          </a:p>
        </p:txBody>
      </p:sp>
    </p:spTree>
    <p:extLst>
      <p:ext uri="{BB962C8B-B14F-4D97-AF65-F5344CB8AC3E}">
        <p14:creationId xmlns:p14="http://schemas.microsoft.com/office/powerpoint/2010/main" val="2430937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DC3A49-1B17-4400-9186-41B2F143944B}"/>
              </a:ext>
            </a:extLst>
          </p:cNvPr>
          <p:cNvSpPr>
            <a:spLocks xmlns:a="http://schemas.openxmlformats.org/drawingml/2006/main" noGrp="1"/>
          </p:cNvSpPr>
          <p:nvPr/>
        </p:nvSpPr>
        <p:spPr>
          <a:xfrm xmlns:a="http://schemas.openxmlformats.org/drawingml/2006/main">
            <a:off x="666750" y="457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4424F"/>
                </a:solidFill>
                <a:latin typeface="Arial"/>
                <a:ea typeface="Arial"/>
                <a:cs typeface="Arial"/>
              </a:defRPr>
            </a:pPr>
            <a:r>
              <a:rPr sz="3300" b="1">
                <a:solidFill>
                  <a:srgbClr val="34424F"/>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F6CC6D81-F134-4BFA-9C42-580811A74015}"/>
              </a:ext>
            </a:extLst>
          </p:cNvPr>
          <p:cNvSpPr>
            <a:spLocks xmlns:a="http://schemas.openxmlformats.org/drawingml/2006/main" noGrp="1"/>
          </p:cNvSpPr>
          <p:nvPr/>
        </p:nvSpPr>
        <p:spPr>
          <a:xfrm xmlns:a="http://schemas.openxmlformats.org/drawingml/2006/main">
            <a:off x="666750" y="635317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D3FC3261-8E23-4824-8948-D10078618496}"/>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491BE5C5-7F04-4E42-9A0F-512F710D3E6B}"/>
              </a:ext>
            </a:extLst>
          </p:cNvPr>
          <p:cNvSpPr>
            <a:spLocks xmlns:a="http://schemas.openxmlformats.org/drawingml/2006/main" noGrp="1"/>
          </p:cNvSpPr>
          <p:nvPr/>
        </p:nvSpPr>
        <p:spPr>
          <a:xfrm xmlns:a="http://schemas.openxmlformats.org/drawingml/2006/main">
            <a:off x="685800" y="13906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78BC"/>
                </a:solidFill>
                <a:latin typeface="Arial"/>
                <a:ea typeface="Arial"/>
                <a:cs typeface="Arial"/>
              </a:defRPr>
            </a:pPr>
            <a:r>
              <a:rPr sz="2475" b="1">
                <a:solidFill>
                  <a:srgbClr val="2878BC"/>
                </a:solidFill>
                <a:latin typeface="Arial"/>
                <a:ea typeface="Arial"/>
                <a:cs typeface="Arial"/>
              </a:rPr>
              <a:t>Reliable randomness needs ongoing checks</a:t>
            </a:r>
          </a:p>
        </p:txBody>
      </p:sp>
      <p:sp>
        <p:nvSpPr>
          <p:cNvPr id="5" name="">
            <a:extLst xmlns:a="http://schemas.openxmlformats.org/drawingml/2006/main">
              <a:ext uri="{FF2B5EF4-FFF2-40B4-BE49-F238E27FC236}">
                <a16:creationId xmlns:a16="http://schemas.microsoft.com/office/drawing/2014/main" id="{D3B4E60B-4C94-4C5C-9E1B-476F874FEC63}"/>
              </a:ext>
            </a:extLst>
          </p:cNvPr>
          <p:cNvSpPr>
            <a:spLocks xmlns:a="http://schemas.openxmlformats.org/drawingml/2006/main" noGrp="1"/>
          </p:cNvSpPr>
          <p:nvPr/>
        </p:nvSpPr>
        <p:spPr>
          <a:xfrm xmlns:a="http://schemas.openxmlformats.org/drawingml/2006/main">
            <a:off x="704850" y="21526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424F"/>
                </a:solidFill>
                <a:latin typeface="Arial"/>
                <a:ea typeface="Arial"/>
                <a:cs typeface="Arial"/>
              </a:defRPr>
            </a:pPr>
            <a:r>
              <a:rPr sz="2175" b="0">
                <a:solidFill>
                  <a:srgbClr val="34424F"/>
                </a:solidFill>
                <a:latin typeface="Arial"/>
                <a:ea typeface="Arial"/>
                <a:cs typeface="Arial"/>
              </a:rPr>
              <a:t>The challenge: ingest quantum optical RNG data, run NIST statistical</a:t>
            </a:r>
          </a:p>
          <a:p xmlns:a="http://schemas.openxmlformats.org/drawingml/2006/main">
            <a:pPr>
              <a:defRPr sz="2175" b="0">
                <a:solidFill>
                  <a:srgbClr val="34424F"/>
                </a:solidFill>
                <a:latin typeface="Arial"/>
                <a:ea typeface="Arial"/>
                <a:cs typeface="Arial"/>
              </a:defRPr>
            </a:pPr>
            <a:r>
              <a:rPr sz="2175" b="0">
                <a:solidFill>
                  <a:srgbClr val="34424F"/>
                </a:solidFill>
                <a:latin typeface="Arial"/>
                <a:ea typeface="Arial"/>
                <a:cs typeface="Arial"/>
              </a:rPr>
              <a:t>tests, and map entropy degradation over time.</a:t>
            </a:r>
          </a:p>
        </p:txBody>
      </p:sp>
      <p:sp>
        <p:nvSpPr>
          <p:cNvPr id="6" name="">
            <a:extLst xmlns:a="http://schemas.openxmlformats.org/drawingml/2006/main">
              <a:ext uri="{FF2B5EF4-FFF2-40B4-BE49-F238E27FC236}">
                <a16:creationId xmlns:a16="http://schemas.microsoft.com/office/drawing/2014/main" id="{6D9AE929-7BC7-47BF-B326-28D8F9820F6E}"/>
              </a:ext>
            </a:extLst>
          </p:cNvPr>
          <p:cNvSpPr>
            <a:spLocks xmlns:a="http://schemas.openxmlformats.org/drawingml/2006/main" noGrp="1"/>
          </p:cNvSpPr>
          <p:nvPr/>
        </p:nvSpPr>
        <p:spPr>
          <a:xfrm xmlns:a="http://schemas.openxmlformats.org/drawingml/2006/main">
            <a:off x="704850" y="35147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8C83"/>
                </a:solidFill>
                <a:latin typeface="Arial"/>
                <a:ea typeface="Arial"/>
                <a:cs typeface="Arial"/>
              </a:defRPr>
            </a:pPr>
            <a:r>
              <a:rPr sz="2025" b="1">
                <a:solidFill>
                  <a:srgbClr val="268C83"/>
                </a:solidFill>
                <a:latin typeface="Arial"/>
                <a:ea typeface="Arial"/>
                <a:cs typeface="Arial"/>
              </a:rPr>
              <a:t>What can go wrong?</a:t>
            </a:r>
          </a:p>
        </p:txBody>
      </p:sp>
      <p:sp>
        <p:nvSpPr>
          <p:cNvPr id="7" name="">
            <a:extLst xmlns:a="http://schemas.openxmlformats.org/drawingml/2006/main">
              <a:ext uri="{FF2B5EF4-FFF2-40B4-BE49-F238E27FC236}">
                <a16:creationId xmlns:a16="http://schemas.microsoft.com/office/drawing/2014/main" id="{B5E14222-F9AF-4397-8AE7-B18B183E90F1}"/>
              </a:ext>
            </a:extLst>
          </p:cNvPr>
          <p:cNvSpPr>
            <a:spLocks xmlns:a="http://schemas.openxmlformats.org/drawingml/2006/main" noGrp="1"/>
          </p:cNvSpPr>
          <p:nvPr/>
        </p:nvSpPr>
        <p:spPr>
          <a:xfrm xmlns:a="http://schemas.openxmlformats.org/drawingml/2006/main">
            <a:off x="704850" y="407670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Too many zeros or ones</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Repeated patterns</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Sudden or gradual changes</a:t>
            </a:r>
          </a:p>
        </p:txBody>
      </p:sp>
      <p:sp>
        <p:nvSpPr>
          <p:cNvPr id="8" name="">
            <a:extLst xmlns:a="http://schemas.openxmlformats.org/drawingml/2006/main">
              <a:ext uri="{FF2B5EF4-FFF2-40B4-BE49-F238E27FC236}">
                <a16:creationId xmlns:a16="http://schemas.microsoft.com/office/drawing/2014/main" id="{7DD156B3-C358-40E3-B88C-2F5BCCF4C572}"/>
              </a:ext>
            </a:extLst>
          </p:cNvPr>
          <p:cNvSpPr>
            <a:spLocks xmlns:a="http://schemas.openxmlformats.org/drawingml/2006/main" noGrp="1"/>
          </p:cNvSpPr>
          <p:nvPr/>
        </p:nvSpPr>
        <p:spPr>
          <a:xfrm xmlns:a="http://schemas.openxmlformats.org/drawingml/2006/main">
            <a:off x="6334125" y="35147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8C83"/>
                </a:solidFill>
                <a:latin typeface="Arial"/>
                <a:ea typeface="Arial"/>
                <a:cs typeface="Arial"/>
              </a:defRPr>
            </a:pPr>
            <a:r>
              <a:rPr sz="2025" b="1">
                <a:solidFill>
                  <a:srgbClr val="268C83"/>
                </a:solidFill>
                <a:latin typeface="Arial"/>
                <a:ea typeface="Arial"/>
                <a:cs typeface="Arial"/>
              </a:rPr>
              <a:t>What engineers need to know</a:t>
            </a:r>
          </a:p>
        </p:txBody>
      </p:sp>
      <p:sp>
        <p:nvSpPr>
          <p:cNvPr id="9" name="">
            <a:extLst xmlns:a="http://schemas.openxmlformats.org/drawingml/2006/main">
              <a:ext uri="{FF2B5EF4-FFF2-40B4-BE49-F238E27FC236}">
                <a16:creationId xmlns:a16="http://schemas.microsoft.com/office/drawing/2014/main" id="{C6EC10FA-411E-43FC-8E45-B56DD531B14B}"/>
              </a:ext>
            </a:extLst>
          </p:cNvPr>
          <p:cNvSpPr>
            <a:spLocks xmlns:a="http://schemas.openxmlformats.org/drawingml/2006/main" noGrp="1"/>
          </p:cNvSpPr>
          <p:nvPr/>
        </p:nvSpPr>
        <p:spPr>
          <a:xfrm xmlns:a="http://schemas.openxmlformats.org/drawingml/2006/main">
            <a:off x="6334125" y="40767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When did the change begin?</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Which measurements changed?</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What should we investigate?</a:t>
            </a:r>
          </a:p>
        </p:txBody>
      </p:sp>
      <p:sp>
        <p:nvSpPr>
          <p:cNvPr id="10" name="">
            <a:extLst xmlns:a="http://schemas.openxmlformats.org/drawingml/2006/main">
              <a:ext uri="{FF2B5EF4-FFF2-40B4-BE49-F238E27FC236}">
                <a16:creationId xmlns:a16="http://schemas.microsoft.com/office/drawing/2014/main" id="{DBBCB2C4-4D29-46D3-B04B-6B7836AB5738}"/>
              </a:ext>
            </a:extLst>
          </p:cNvPr>
          <p:cNvSpPr>
            <a:spLocks xmlns:a="http://schemas.openxmlformats.org/drawingml/2006/main" noGrp="1"/>
          </p:cNvSpPr>
          <p:nvPr/>
        </p:nvSpPr>
        <p:spPr>
          <a:xfrm xmlns:a="http://schemas.openxmlformats.org/drawingml/2006/main">
            <a:off x="704850" y="58197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87B88"/>
                </a:solidFill>
                <a:latin typeface="Arial"/>
                <a:ea typeface="Arial"/>
                <a:cs typeface="Arial"/>
              </a:defRPr>
            </a:pPr>
            <a:r>
              <a:rPr sz="1575" b="0">
                <a:solidFill>
                  <a:srgbClr val="687B88"/>
                </a:solidFill>
                <a:latin typeface="Arial"/>
                <a:ea typeface="Arial"/>
                <a:cs typeface="Arial"/>
              </a:rPr>
              <a:t>Entropy describes uncertainty. A high single-bit entropy value can still hide repetition.</a:t>
            </a:r>
          </a:p>
        </p:txBody>
      </p:sp>
    </p:spTree>
    <p:extLst>
      <p:ext uri="{BB962C8B-B14F-4D97-AF65-F5344CB8AC3E}">
        <p14:creationId xmlns:p14="http://schemas.microsoft.com/office/powerpoint/2010/main" val="9847138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2008609-6CD2-44F9-A442-69E4DFA45CAD}"/>
              </a:ext>
            </a:extLst>
          </p:cNvPr>
          <p:cNvSpPr>
            <a:spLocks xmlns:a="http://schemas.openxmlformats.org/drawingml/2006/main" noGrp="1"/>
          </p:cNvSpPr>
          <p:nvPr/>
        </p:nvSpPr>
        <p:spPr>
          <a:xfrm xmlns:a="http://schemas.openxmlformats.org/drawingml/2006/main">
            <a:off x="666750" y="457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4424F"/>
                </a:solidFill>
                <a:latin typeface="Arial"/>
                <a:ea typeface="Arial"/>
                <a:cs typeface="Arial"/>
              </a:defRPr>
            </a:pPr>
            <a:r>
              <a:rPr sz="3300" b="1">
                <a:solidFill>
                  <a:srgbClr val="34424F"/>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5A0EAC99-292D-4442-B673-AEBFDB0D95AB}"/>
              </a:ext>
            </a:extLst>
          </p:cNvPr>
          <p:cNvSpPr>
            <a:spLocks xmlns:a="http://schemas.openxmlformats.org/drawingml/2006/main" noGrp="1"/>
          </p:cNvSpPr>
          <p:nvPr/>
        </p:nvSpPr>
        <p:spPr>
          <a:xfrm xmlns:a="http://schemas.openxmlformats.org/drawingml/2006/main">
            <a:off x="666750" y="635317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B4E885EB-02D3-4B5F-8E33-A16F04E3ACAF}"/>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B14CE078-5AF8-43BA-B8F3-83416B218F96}"/>
              </a:ext>
            </a:extLst>
          </p:cNvPr>
          <p:cNvSpPr>
            <a:spLocks xmlns:a="http://schemas.openxmlformats.org/drawingml/2006/main" noGrp="1"/>
          </p:cNvSpPr>
          <p:nvPr/>
        </p:nvSpPr>
        <p:spPr>
          <a:xfrm xmlns:a="http://schemas.openxmlformats.org/drawingml/2006/main">
            <a:off x="685800" y="1333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A continuous record of changes and their evidence</a:t>
            </a:r>
          </a:p>
        </p:txBody>
      </p:sp>
      <p:graphicFrame>
        <p:nvGraphicFramePr>
          <p:cNvPr id="18" name="Chart"/>
          <p:cNvGraphicFramePr/>
          <p:nvPr/>
        </p:nvGraphicFramePr>
        <p:xfrm>
          <a:off xmlns:a="http://schemas.openxmlformats.org/drawingml/2006/main" x="619125" y="2114550"/>
          <a:ext xmlns:a="http://schemas.openxmlformats.org/drawingml/2006/main" cx="7381875" cy="3286125"/>
        </p:xfrm>
        <a:graphic xmlns:a="http://schemas.openxmlformats.org/drawingml/2006/main">
          <a:graphicData uri="http://schemas.openxmlformats.org/drawingml/2006/chart">
            <c:chart xmlns:r="http://schemas.openxmlformats.org/officeDocument/2006/relationships" xmlns:c="http://schemas.openxmlformats.org/drawingml/2006/chart" r:id="R4afbdeba479d4eaf"/>
          </a:graphicData>
        </a:graphic>
      </p:graphicFrame>
      <p:sp>
        <p:nvSpPr>
          <p:cNvPr id="6" name="">
            <a:extLst xmlns:a="http://schemas.openxmlformats.org/drawingml/2006/main">
              <a:ext uri="{FF2B5EF4-FFF2-40B4-BE49-F238E27FC236}">
                <a16:creationId xmlns:a16="http://schemas.microsoft.com/office/drawing/2014/main" id="{4C8F139C-C93F-40B9-82C9-92395268CBCA}"/>
              </a:ext>
            </a:extLst>
          </p:cNvPr>
          <p:cNvSpPr>
            <a:spLocks xmlns:a="http://schemas.openxmlformats.org/drawingml/2006/main" noGrp="1"/>
          </p:cNvSpPr>
          <p:nvPr/>
        </p:nvSpPr>
        <p:spPr>
          <a:xfrm xmlns:a="http://schemas.openxmlformats.org/drawingml/2006/main">
            <a:off x="8534400" y="214312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68C83"/>
                </a:solidFill>
                <a:latin typeface="Arial"/>
                <a:ea typeface="Arial"/>
                <a:cs typeface="Arial"/>
              </a:defRPr>
            </a:pPr>
            <a:r>
              <a:rPr sz="3225" b="1">
                <a:solidFill>
                  <a:srgbClr val="268C83"/>
                </a:solidFill>
                <a:latin typeface="Arial"/>
                <a:ea typeface="Arial"/>
                <a:cs typeface="Arial"/>
              </a:rPr>
              <a:t>56</a:t>
            </a:r>
          </a:p>
        </p:txBody>
      </p:sp>
      <p:sp>
        <p:nvSpPr>
          <p:cNvPr id="7" name="">
            <a:extLst xmlns:a="http://schemas.openxmlformats.org/drawingml/2006/main">
              <a:ext uri="{FF2B5EF4-FFF2-40B4-BE49-F238E27FC236}">
                <a16:creationId xmlns:a16="http://schemas.microsoft.com/office/drawing/2014/main" id="{92E63491-578F-4365-86DA-B005DB220A35}"/>
              </a:ext>
            </a:extLst>
          </p:cNvPr>
          <p:cNvSpPr>
            <a:spLocks xmlns:a="http://schemas.openxmlformats.org/drawingml/2006/main" noGrp="1"/>
          </p:cNvSpPr>
          <p:nvPr/>
        </p:nvSpPr>
        <p:spPr>
          <a:xfrm xmlns:a="http://schemas.openxmlformats.org/drawingml/2006/main">
            <a:off x="8534400" y="26860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First Early Warning</a:t>
            </a:r>
          </a:p>
        </p:txBody>
      </p:sp>
      <p:sp>
        <p:nvSpPr>
          <p:cNvPr id="8" name="">
            <a:extLst xmlns:a="http://schemas.openxmlformats.org/drawingml/2006/main">
              <a:ext uri="{FF2B5EF4-FFF2-40B4-BE49-F238E27FC236}">
                <a16:creationId xmlns:a16="http://schemas.microsoft.com/office/drawing/2014/main" id="{DCC53A26-30C3-44FD-9247-3263E2492C29}"/>
              </a:ext>
            </a:extLst>
          </p:cNvPr>
          <p:cNvSpPr>
            <a:spLocks xmlns:a="http://schemas.openxmlformats.org/drawingml/2006/main" noGrp="1"/>
          </p:cNvSpPr>
          <p:nvPr/>
        </p:nvSpPr>
        <p:spPr>
          <a:xfrm xmlns:a="http://schemas.openxmlformats.org/drawingml/2006/main">
            <a:off x="8534400" y="33528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878BC"/>
                </a:solidFill>
                <a:latin typeface="Arial"/>
                <a:ea typeface="Arial"/>
                <a:cs typeface="Arial"/>
              </a:defRPr>
            </a:pPr>
            <a:r>
              <a:rPr sz="3225" b="1">
                <a:solidFill>
                  <a:srgbClr val="2878BC"/>
                </a:solidFill>
                <a:latin typeface="Arial"/>
                <a:ea typeface="Arial"/>
                <a:cs typeface="Arial"/>
              </a:rPr>
              <a:t>66</a:t>
            </a:r>
          </a:p>
        </p:txBody>
      </p:sp>
      <p:sp>
        <p:nvSpPr>
          <p:cNvPr id="9" name="">
            <a:extLst xmlns:a="http://schemas.openxmlformats.org/drawingml/2006/main">
              <a:ext uri="{FF2B5EF4-FFF2-40B4-BE49-F238E27FC236}">
                <a16:creationId xmlns:a16="http://schemas.microsoft.com/office/drawing/2014/main" id="{AD754C8D-F729-4546-9649-21060446BE4D}"/>
              </a:ext>
            </a:extLst>
          </p:cNvPr>
          <p:cNvSpPr>
            <a:spLocks xmlns:a="http://schemas.openxmlformats.org/drawingml/2006/main" noGrp="1"/>
          </p:cNvSpPr>
          <p:nvPr/>
        </p:nvSpPr>
        <p:spPr>
          <a:xfrm xmlns:a="http://schemas.openxmlformats.org/drawingml/2006/main">
            <a:off x="8534400" y="38957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Degraded state</a:t>
            </a:r>
          </a:p>
        </p:txBody>
      </p:sp>
      <p:sp>
        <p:nvSpPr>
          <p:cNvPr id="10" name="">
            <a:extLst xmlns:a="http://schemas.openxmlformats.org/drawingml/2006/main">
              <a:ext uri="{FF2B5EF4-FFF2-40B4-BE49-F238E27FC236}">
                <a16:creationId xmlns:a16="http://schemas.microsoft.com/office/drawing/2014/main" id="{194F5A03-1A32-4F8B-9973-6E477E52C07F}"/>
              </a:ext>
            </a:extLst>
          </p:cNvPr>
          <p:cNvSpPr>
            <a:spLocks xmlns:a="http://schemas.openxmlformats.org/drawingml/2006/main" noGrp="1"/>
          </p:cNvSpPr>
          <p:nvPr/>
        </p:nvSpPr>
        <p:spPr>
          <a:xfrm xmlns:a="http://schemas.openxmlformats.org/drawingml/2006/main">
            <a:off x="8534400" y="450532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878BC"/>
                </a:solidFill>
                <a:latin typeface="Arial"/>
                <a:ea typeface="Arial"/>
                <a:cs typeface="Arial"/>
              </a:defRPr>
            </a:pPr>
            <a:r>
              <a:rPr sz="3225" b="1">
                <a:solidFill>
                  <a:srgbClr val="2878BC"/>
                </a:solidFill>
                <a:latin typeface="Arial"/>
                <a:ea typeface="Arial"/>
                <a:cs typeface="Arial"/>
              </a:rPr>
              <a:t>92</a:t>
            </a:r>
          </a:p>
        </p:txBody>
      </p:sp>
      <p:sp>
        <p:nvSpPr>
          <p:cNvPr id="11" name="">
            <a:extLst xmlns:a="http://schemas.openxmlformats.org/drawingml/2006/main">
              <a:ext uri="{FF2B5EF4-FFF2-40B4-BE49-F238E27FC236}">
                <a16:creationId xmlns:a16="http://schemas.microsoft.com/office/drawing/2014/main" id="{C4E08FAD-D7BA-4CC5-966D-F6B611847BB8}"/>
              </a:ext>
            </a:extLst>
          </p:cNvPr>
          <p:cNvSpPr>
            <a:spLocks xmlns:a="http://schemas.openxmlformats.org/drawingml/2006/main" noGrp="1"/>
          </p:cNvSpPr>
          <p:nvPr/>
        </p:nvSpPr>
        <p:spPr>
          <a:xfrm xmlns:a="http://schemas.openxmlformats.org/drawingml/2006/main">
            <a:off x="8534400" y="5048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Critical state</a:t>
            </a:r>
          </a:p>
        </p:txBody>
      </p:sp>
      <p:sp>
        <p:nvSpPr>
          <p:cNvPr id="12" name="">
            <a:extLst xmlns:a="http://schemas.openxmlformats.org/drawingml/2006/main">
              <a:ext uri="{FF2B5EF4-FFF2-40B4-BE49-F238E27FC236}">
                <a16:creationId xmlns:a16="http://schemas.microsoft.com/office/drawing/2014/main" id="{75855168-50A6-4318-8EA0-B9AF6FFD000F}"/>
              </a:ext>
            </a:extLst>
          </p:cNvPr>
          <p:cNvSpPr>
            <a:spLocks xmlns:a="http://schemas.openxmlformats.org/drawingml/2006/main" noGrp="1"/>
          </p:cNvSpPr>
          <p:nvPr/>
        </p:nvSpPr>
        <p:spPr>
          <a:xfrm xmlns:a="http://schemas.openxmlformats.org/drawingml/2006/main">
            <a:off x="704850" y="56673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Engineers can open a flagged window, inspect the bits, and save an evidence-based report.</a:t>
            </a:r>
          </a:p>
        </p:txBody>
      </p:sp>
      <p:sp>
        <p:nvSpPr>
          <p:cNvPr id="13" name="">
            <a:extLst xmlns:a="http://schemas.openxmlformats.org/drawingml/2006/main">
              <a:ext uri="{FF2B5EF4-FFF2-40B4-BE49-F238E27FC236}">
                <a16:creationId xmlns:a16="http://schemas.microsoft.com/office/drawing/2014/main" id="{4894AA4F-7B5D-4E66-A282-EA26508ABC03}"/>
              </a:ext>
            </a:extLst>
          </p:cNvPr>
          <p:cNvSpPr>
            <a:spLocks xmlns:a="http://schemas.openxmlformats.org/drawingml/2006/main" noGrp="1"/>
          </p:cNvSpPr>
          <p:nvPr/>
        </p:nvSpPr>
        <p:spPr>
          <a:xfrm xmlns:a="http://schemas.openxmlformats.org/drawingml/2006/main">
            <a:off x="704850" y="6076950"/>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Simulated demonstration. Every fifth monitoring window shown. Scores are computed from the bits.</a:t>
            </a:r>
          </a:p>
        </p:txBody>
      </p:sp>
    </p:spTree>
    <p:extLst>
      <p:ext uri="{BB962C8B-B14F-4D97-AF65-F5344CB8AC3E}">
        <p14:creationId xmlns:p14="http://schemas.microsoft.com/office/powerpoint/2010/main" val="10551690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664C3D4-EACD-47A8-97A0-D7242DA87209}"/>
              </a:ext>
            </a:extLst>
          </p:cNvPr>
          <p:cNvSpPr>
            <a:spLocks xmlns:a="http://schemas.openxmlformats.org/drawingml/2006/main" noGrp="1"/>
          </p:cNvSpPr>
          <p:nvPr/>
        </p:nvSpPr>
        <p:spPr>
          <a:xfrm xmlns:a="http://schemas.openxmlformats.org/drawingml/2006/main">
            <a:off x="666750" y="457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4424F"/>
                </a:solidFill>
                <a:latin typeface="Arial"/>
                <a:ea typeface="Arial"/>
                <a:cs typeface="Arial"/>
              </a:defRPr>
            </a:pPr>
            <a:r>
              <a:rPr sz="3300" b="1">
                <a:solidFill>
                  <a:srgbClr val="34424F"/>
                </a:solidFill>
                <a:latin typeface="Arial"/>
                <a:ea typeface="Arial"/>
                <a:cs typeface="Arial"/>
              </a:rPr>
              <a:t>Technical approach</a:t>
            </a:r>
          </a:p>
        </p:txBody>
      </p:sp>
      <p:sp>
        <p:nvSpPr>
          <p:cNvPr id="2" name="">
            <a:extLst xmlns:a="http://schemas.openxmlformats.org/drawingml/2006/main">
              <a:ext uri="{FF2B5EF4-FFF2-40B4-BE49-F238E27FC236}">
                <a16:creationId xmlns:a16="http://schemas.microsoft.com/office/drawing/2014/main" id="{E60CA37A-2324-4564-8D5C-40F89A2E7521}"/>
              </a:ext>
            </a:extLst>
          </p:cNvPr>
          <p:cNvSpPr>
            <a:spLocks xmlns:a="http://schemas.openxmlformats.org/drawingml/2006/main" noGrp="1"/>
          </p:cNvSpPr>
          <p:nvPr/>
        </p:nvSpPr>
        <p:spPr>
          <a:xfrm xmlns:a="http://schemas.openxmlformats.org/drawingml/2006/main">
            <a:off x="666750" y="635317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3E8D0413-DA72-481E-B2E2-8290F4144031}"/>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233BFAC-9361-4FC8-B2D5-2C8C7794F22C}"/>
              </a:ext>
            </a:extLst>
          </p:cNvPr>
          <p:cNvSpPr>
            <a:spLocks xmlns:a="http://schemas.openxmlformats.org/drawingml/2006/main" noGrp="1"/>
          </p:cNvSpPr>
          <p:nvPr/>
        </p:nvSpPr>
        <p:spPr>
          <a:xfrm xmlns:a="http://schemas.openxmlformats.org/drawingml/2006/main">
            <a:off x="704850" y="14954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8BC"/>
                </a:solidFill>
                <a:latin typeface="Arial"/>
                <a:ea typeface="Arial"/>
                <a:cs typeface="Arial"/>
              </a:defRPr>
            </a:pPr>
            <a:r>
              <a:rPr sz="2250" b="1">
                <a:solidFill>
                  <a:srgbClr val="2878B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40F2676-C313-4BB8-A96E-00572BACC45D}"/>
              </a:ext>
            </a:extLst>
          </p:cNvPr>
          <p:cNvSpPr>
            <a:spLocks xmlns:a="http://schemas.openxmlformats.org/drawingml/2006/main" noGrp="1"/>
          </p:cNvSpPr>
          <p:nvPr/>
        </p:nvSpPr>
        <p:spPr>
          <a:xfrm xmlns:a="http://schemas.openxmlformats.org/drawingml/2006/main">
            <a:off x="1647825" y="149542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24F"/>
                </a:solidFill>
                <a:latin typeface="Arial"/>
                <a:ea typeface="Arial"/>
                <a:cs typeface="Arial"/>
              </a:defRPr>
            </a:pPr>
            <a:r>
              <a:rPr sz="2025" b="1">
                <a:solidFill>
                  <a:srgbClr val="34424F"/>
                </a:solidFill>
                <a:latin typeface="Arial"/>
                <a:ea typeface="Arial"/>
                <a:cs typeface="Arial"/>
              </a:rPr>
              <a:t>Receive and check</a:t>
            </a:r>
          </a:p>
        </p:txBody>
      </p:sp>
      <p:sp>
        <p:nvSpPr>
          <p:cNvPr id="6" name="">
            <a:extLst xmlns:a="http://schemas.openxmlformats.org/drawingml/2006/main">
              <a:ext uri="{FF2B5EF4-FFF2-40B4-BE49-F238E27FC236}">
                <a16:creationId xmlns:a16="http://schemas.microsoft.com/office/drawing/2014/main" id="{34E311D2-9DCE-4CFA-815E-EC1460C36C88}"/>
              </a:ext>
            </a:extLst>
          </p:cNvPr>
          <p:cNvSpPr>
            <a:spLocks xmlns:a="http://schemas.openxmlformats.org/drawingml/2006/main" noGrp="1"/>
          </p:cNvSpPr>
          <p:nvPr/>
        </p:nvSpPr>
        <p:spPr>
          <a:xfrm xmlns:a="http://schemas.openxmlformats.org/drawingml/2006/main">
            <a:off x="1647825" y="19145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7B88"/>
                </a:solidFill>
                <a:latin typeface="Arial"/>
                <a:ea typeface="Arial"/>
                <a:cs typeface="Arial"/>
              </a:defRPr>
            </a:pPr>
            <a:r>
              <a:rPr sz="1800" b="0">
                <a:solidFill>
                  <a:srgbClr val="687B88"/>
                </a:solidFill>
                <a:latin typeface="Arial"/>
                <a:ea typeface="Arial"/>
                <a:cs typeface="Arial"/>
              </a:rPr>
              <a:t>Read TXT, CSV or binary files, or a simulated stream.</a:t>
            </a:r>
          </a:p>
        </p:txBody>
      </p:sp>
      <p:sp>
        <p:nvSpPr>
          <p:cNvPr id="7" name="">
            <a:extLst xmlns:a="http://schemas.openxmlformats.org/drawingml/2006/main">
              <a:ext uri="{FF2B5EF4-FFF2-40B4-BE49-F238E27FC236}">
                <a16:creationId xmlns:a16="http://schemas.microsoft.com/office/drawing/2014/main" id="{E94BB8E3-0A86-4CEC-915A-34F9C4CA666B}"/>
              </a:ext>
            </a:extLst>
          </p:cNvPr>
          <p:cNvSpPr>
            <a:spLocks xmlns:a="http://schemas.openxmlformats.org/drawingml/2006/main" noGrp="1"/>
          </p:cNvSpPr>
          <p:nvPr/>
        </p:nvSpPr>
        <p:spPr>
          <a:xfrm xmlns:a="http://schemas.openxmlformats.org/drawingml/2006/main">
            <a:off x="704850" y="24669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8BC"/>
                </a:solidFill>
                <a:latin typeface="Arial"/>
                <a:ea typeface="Arial"/>
                <a:cs typeface="Arial"/>
              </a:defRPr>
            </a:pPr>
            <a:r>
              <a:rPr sz="2250" b="1">
                <a:solidFill>
                  <a:srgbClr val="2878B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32E5F0C-9484-45A3-ACCB-97415A67402A}"/>
              </a:ext>
            </a:extLst>
          </p:cNvPr>
          <p:cNvSpPr>
            <a:spLocks xmlns:a="http://schemas.openxmlformats.org/drawingml/2006/main" noGrp="1"/>
          </p:cNvSpPr>
          <p:nvPr/>
        </p:nvSpPr>
        <p:spPr>
          <a:xfrm xmlns:a="http://schemas.openxmlformats.org/drawingml/2006/main">
            <a:off x="1647825" y="246697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24F"/>
                </a:solidFill>
                <a:latin typeface="Arial"/>
                <a:ea typeface="Arial"/>
                <a:cs typeface="Arial"/>
              </a:defRPr>
            </a:pPr>
            <a:r>
              <a:rPr sz="2025" b="1">
                <a:solidFill>
                  <a:srgbClr val="34424F"/>
                </a:solidFill>
                <a:latin typeface="Arial"/>
                <a:ea typeface="Arial"/>
                <a:cs typeface="Arial"/>
              </a:rPr>
              <a:t>Analyze small windows</a:t>
            </a:r>
          </a:p>
        </p:txBody>
      </p:sp>
      <p:sp>
        <p:nvSpPr>
          <p:cNvPr id="9" name="">
            <a:extLst xmlns:a="http://schemas.openxmlformats.org/drawingml/2006/main">
              <a:ext uri="{FF2B5EF4-FFF2-40B4-BE49-F238E27FC236}">
                <a16:creationId xmlns:a16="http://schemas.microsoft.com/office/drawing/2014/main" id="{8DA09716-7402-4538-9565-AB3F2365F1F1}"/>
              </a:ext>
            </a:extLst>
          </p:cNvPr>
          <p:cNvSpPr>
            <a:spLocks xmlns:a="http://schemas.openxmlformats.org/drawingml/2006/main" noGrp="1"/>
          </p:cNvSpPr>
          <p:nvPr/>
        </p:nvSpPr>
        <p:spPr>
          <a:xfrm xmlns:a="http://schemas.openxmlformats.org/drawingml/2006/main">
            <a:off x="1647825" y="288607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7B88"/>
                </a:solidFill>
                <a:latin typeface="Arial"/>
                <a:ea typeface="Arial"/>
                <a:cs typeface="Arial"/>
              </a:defRPr>
            </a:pPr>
            <a:r>
              <a:rPr sz="1800" b="0">
                <a:solidFill>
                  <a:srgbClr val="687B88"/>
                </a:solidFill>
                <a:latin typeface="Arial"/>
                <a:ea typeface="Arial"/>
                <a:cs typeface="Arial"/>
              </a:rPr>
              <a:t>Measure entropy, bias and patterns in each 10,000-bit window.</a:t>
            </a:r>
          </a:p>
        </p:txBody>
      </p:sp>
      <p:sp>
        <p:nvSpPr>
          <p:cNvPr id="10" name="">
            <a:extLst xmlns:a="http://schemas.openxmlformats.org/drawingml/2006/main">
              <a:ext uri="{FF2B5EF4-FFF2-40B4-BE49-F238E27FC236}">
                <a16:creationId xmlns:a16="http://schemas.microsoft.com/office/drawing/2014/main" id="{89192652-758F-41DA-BAE1-02A224768E0C}"/>
              </a:ext>
            </a:extLst>
          </p:cNvPr>
          <p:cNvSpPr>
            <a:spLocks xmlns:a="http://schemas.openxmlformats.org/drawingml/2006/main" noGrp="1"/>
          </p:cNvSpPr>
          <p:nvPr/>
        </p:nvSpPr>
        <p:spPr>
          <a:xfrm xmlns:a="http://schemas.openxmlformats.org/drawingml/2006/main">
            <a:off x="704850" y="34385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8BC"/>
                </a:solidFill>
                <a:latin typeface="Arial"/>
                <a:ea typeface="Arial"/>
                <a:cs typeface="Arial"/>
              </a:defRPr>
            </a:pPr>
            <a:r>
              <a:rPr sz="2250" b="1">
                <a:solidFill>
                  <a:srgbClr val="2878B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D7FD52D-2BA6-4F91-AAA9-589C91FBE369}"/>
              </a:ext>
            </a:extLst>
          </p:cNvPr>
          <p:cNvSpPr>
            <a:spLocks xmlns:a="http://schemas.openxmlformats.org/drawingml/2006/main" noGrp="1"/>
          </p:cNvSpPr>
          <p:nvPr/>
        </p:nvSpPr>
        <p:spPr>
          <a:xfrm xmlns:a="http://schemas.openxmlformats.org/drawingml/2006/main">
            <a:off x="1647825" y="343852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24F"/>
                </a:solidFill>
                <a:latin typeface="Arial"/>
                <a:ea typeface="Arial"/>
                <a:cs typeface="Arial"/>
              </a:defRPr>
            </a:pPr>
            <a:r>
              <a:rPr sz="2025" b="1">
                <a:solidFill>
                  <a:srgbClr val="34424F"/>
                </a:solidFill>
                <a:latin typeface="Arial"/>
                <a:ea typeface="Arial"/>
                <a:cs typeface="Arial"/>
              </a:rPr>
              <a:t>Detect persistent change</a:t>
            </a:r>
          </a:p>
        </p:txBody>
      </p:sp>
      <p:sp>
        <p:nvSpPr>
          <p:cNvPr id="12" name="">
            <a:extLst xmlns:a="http://schemas.openxmlformats.org/drawingml/2006/main">
              <a:ext uri="{FF2B5EF4-FFF2-40B4-BE49-F238E27FC236}">
                <a16:creationId xmlns:a16="http://schemas.microsoft.com/office/drawing/2014/main" id="{01EAE2B4-A6F3-4618-872C-99C47AEA42D2}"/>
              </a:ext>
            </a:extLst>
          </p:cNvPr>
          <p:cNvSpPr>
            <a:spLocks xmlns:a="http://schemas.openxmlformats.org/drawingml/2006/main" noGrp="1"/>
          </p:cNvSpPr>
          <p:nvPr/>
        </p:nvSpPr>
        <p:spPr>
          <a:xfrm xmlns:a="http://schemas.openxmlformats.org/drawingml/2006/main">
            <a:off x="1647825" y="385762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7B88"/>
                </a:solidFill>
                <a:latin typeface="Arial"/>
                <a:ea typeface="Arial"/>
                <a:cs typeface="Arial"/>
              </a:defRPr>
            </a:pPr>
            <a:r>
              <a:rPr sz="1800" b="0">
                <a:solidFill>
                  <a:srgbClr val="687B88"/>
                </a:solidFill>
                <a:latin typeface="Arial"/>
                <a:ea typeface="Arial"/>
                <a:cs typeface="Arial"/>
              </a:rPr>
              <a:t>Compare with a baseline. CUSUM accumulates small deviations.</a:t>
            </a:r>
          </a:p>
        </p:txBody>
      </p:sp>
      <p:sp>
        <p:nvSpPr>
          <p:cNvPr id="13" name="">
            <a:extLst xmlns:a="http://schemas.openxmlformats.org/drawingml/2006/main">
              <a:ext uri="{FF2B5EF4-FFF2-40B4-BE49-F238E27FC236}">
                <a16:creationId xmlns:a16="http://schemas.microsoft.com/office/drawing/2014/main" id="{F3D318AE-7FDF-4A77-A076-2E8F535DF8F1}"/>
              </a:ext>
            </a:extLst>
          </p:cNvPr>
          <p:cNvSpPr>
            <a:spLocks xmlns:a="http://schemas.openxmlformats.org/drawingml/2006/main" noGrp="1"/>
          </p:cNvSpPr>
          <p:nvPr/>
        </p:nvSpPr>
        <p:spPr>
          <a:xfrm xmlns:a="http://schemas.openxmlformats.org/drawingml/2006/main">
            <a:off x="704850" y="4410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8BC"/>
                </a:solidFill>
                <a:latin typeface="Arial"/>
                <a:ea typeface="Arial"/>
                <a:cs typeface="Arial"/>
              </a:defRPr>
            </a:pPr>
            <a:r>
              <a:rPr sz="2250" b="1">
                <a:solidFill>
                  <a:srgbClr val="2878BC"/>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D898B2F-89A7-409D-B32A-1A49F7BD508E}"/>
              </a:ext>
            </a:extLst>
          </p:cNvPr>
          <p:cNvSpPr>
            <a:spLocks xmlns:a="http://schemas.openxmlformats.org/drawingml/2006/main" noGrp="1"/>
          </p:cNvSpPr>
          <p:nvPr/>
        </p:nvSpPr>
        <p:spPr>
          <a:xfrm xmlns:a="http://schemas.openxmlformats.org/drawingml/2006/main">
            <a:off x="1647825" y="441007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24F"/>
                </a:solidFill>
                <a:latin typeface="Arial"/>
                <a:ea typeface="Arial"/>
                <a:cs typeface="Arial"/>
              </a:defRPr>
            </a:pPr>
            <a:r>
              <a:rPr sz="2025" b="1">
                <a:solidFill>
                  <a:srgbClr val="34424F"/>
                </a:solidFill>
                <a:latin typeface="Arial"/>
                <a:ea typeface="Arial"/>
                <a:cs typeface="Arial"/>
              </a:rPr>
              <a:t>Explain and preserve</a:t>
            </a:r>
          </a:p>
        </p:txBody>
      </p:sp>
      <p:sp>
        <p:nvSpPr>
          <p:cNvPr id="15" name="">
            <a:extLst xmlns:a="http://schemas.openxmlformats.org/drawingml/2006/main">
              <a:ext uri="{FF2B5EF4-FFF2-40B4-BE49-F238E27FC236}">
                <a16:creationId xmlns:a16="http://schemas.microsoft.com/office/drawing/2014/main" id="{5EE6BEC2-FA8E-4DA2-BE65-C39C724BDFD1}"/>
              </a:ext>
            </a:extLst>
          </p:cNvPr>
          <p:cNvSpPr>
            <a:spLocks xmlns:a="http://schemas.openxmlformats.org/drawingml/2006/main" noGrp="1"/>
          </p:cNvSpPr>
          <p:nvPr/>
        </p:nvSpPr>
        <p:spPr>
          <a:xfrm xmlns:a="http://schemas.openxmlformats.org/drawingml/2006/main">
            <a:off x="1647825" y="4829175"/>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7B88"/>
                </a:solidFill>
                <a:latin typeface="Arial"/>
                <a:ea typeface="Arial"/>
                <a:cs typeface="Arial"/>
              </a:defRPr>
            </a:pPr>
            <a:r>
              <a:rPr sz="1800" b="0">
                <a:solidFill>
                  <a:srgbClr val="687B88"/>
                </a:solidFill>
                <a:latin typeface="Arial"/>
                <a:ea typeface="Arial"/>
                <a:cs typeface="Arial"/>
              </a:rPr>
              <a:t>Show the affected bits, recommendations and a saved health passport.</a:t>
            </a:r>
          </a:p>
        </p:txBody>
      </p:sp>
      <p:sp>
        <p:nvSpPr>
          <p:cNvPr id="16" name="">
            <a:extLst xmlns:a="http://schemas.openxmlformats.org/drawingml/2006/main">
              <a:ext uri="{FF2B5EF4-FFF2-40B4-BE49-F238E27FC236}">
                <a16:creationId xmlns:a16="http://schemas.microsoft.com/office/drawing/2014/main" id="{0B5F85B2-1D4B-4ACD-A1FD-1C0CB5C98FD9}"/>
              </a:ext>
            </a:extLst>
          </p:cNvPr>
          <p:cNvSpPr>
            <a:spLocks xmlns:a="http://schemas.openxmlformats.org/drawingml/2006/main" noGrp="1"/>
          </p:cNvSpPr>
          <p:nvPr/>
        </p:nvSpPr>
        <p:spPr>
          <a:xfrm xmlns:a="http://schemas.openxmlformats.org/drawingml/2006/main">
            <a:off x="704850" y="5553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68C83"/>
                </a:solidFill>
                <a:latin typeface="Arial"/>
                <a:ea typeface="Arial"/>
                <a:cs typeface="Arial"/>
              </a:defRPr>
            </a:pPr>
            <a:r>
              <a:rPr sz="1725" b="1">
                <a:solidFill>
                  <a:srgbClr val="268C83"/>
                </a:solidFill>
                <a:latin typeface="Arial"/>
                <a:ea typeface="Arial"/>
                <a:cs typeface="Arial"/>
              </a:rPr>
              <a:t>Python + Streamlit     NumPy / Pandas / SciPy     Plotly     SQLite + ReportLab</a:t>
            </a:r>
          </a:p>
        </p:txBody>
      </p:sp>
      <p:sp>
        <p:nvSpPr>
          <p:cNvPr id="17" name="">
            <a:extLst xmlns:a="http://schemas.openxmlformats.org/drawingml/2006/main">
              <a:ext uri="{FF2B5EF4-FFF2-40B4-BE49-F238E27FC236}">
                <a16:creationId xmlns:a16="http://schemas.microsoft.com/office/drawing/2014/main" id="{798700B2-170D-44AF-AAD7-62E7B96B5579}"/>
              </a:ext>
            </a:extLst>
          </p:cNvPr>
          <p:cNvSpPr>
            <a:spLocks xmlns:a="http://schemas.openxmlformats.org/drawingml/2006/main" noGrp="1"/>
          </p:cNvSpPr>
          <p:nvPr/>
        </p:nvSpPr>
        <p:spPr>
          <a:xfrm xmlns:a="http://schemas.openxmlformats.org/drawingml/2006/main">
            <a:off x="704850" y="59912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87B88"/>
                </a:solidFill>
                <a:latin typeface="Arial"/>
                <a:ea typeface="Arial"/>
                <a:cs typeface="Arial"/>
              </a:defRPr>
            </a:pPr>
            <a:r>
              <a:rPr sz="1575" b="0">
                <a:solidFill>
                  <a:srgbClr val="687B88"/>
                </a:solidFill>
                <a:latin typeface="Arial"/>
                <a:ea typeface="Arial"/>
                <a:cs typeface="Arial"/>
              </a:rPr>
              <a:t>Six NIST test families. Transparent statistical rules. Q-Advisor summarizes measured evidence.</a:t>
            </a:r>
          </a:p>
        </p:txBody>
      </p:sp>
    </p:spTree>
    <p:extLst>
      <p:ext uri="{BB962C8B-B14F-4D97-AF65-F5344CB8AC3E}">
        <p14:creationId xmlns:p14="http://schemas.microsoft.com/office/powerpoint/2010/main" val="148714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C05A971-4535-4BFB-BA24-D32DD4A37276}"/>
              </a:ext>
            </a:extLst>
          </p:cNvPr>
          <p:cNvSpPr>
            <a:spLocks xmlns:a="http://schemas.openxmlformats.org/drawingml/2006/main" noGrp="1"/>
          </p:cNvSpPr>
          <p:nvPr/>
        </p:nvSpPr>
        <p:spPr>
          <a:xfrm xmlns:a="http://schemas.openxmlformats.org/drawingml/2006/main">
            <a:off x="666750" y="457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4424F"/>
                </a:solidFill>
                <a:latin typeface="Arial"/>
                <a:ea typeface="Arial"/>
                <a:cs typeface="Arial"/>
              </a:defRPr>
            </a:pPr>
            <a:r>
              <a:rPr sz="3300" b="1">
                <a:solidFill>
                  <a:srgbClr val="34424F"/>
                </a:solidFill>
                <a:latin typeface="Arial"/>
                <a:ea typeface="Arial"/>
                <a:cs typeface="Arial"/>
              </a:rPr>
              <a:t>Feasibility &amp; viability</a:t>
            </a:r>
          </a:p>
        </p:txBody>
      </p:sp>
      <p:sp>
        <p:nvSpPr>
          <p:cNvPr id="2" name="">
            <a:extLst xmlns:a="http://schemas.openxmlformats.org/drawingml/2006/main">
              <a:ext uri="{FF2B5EF4-FFF2-40B4-BE49-F238E27FC236}">
                <a16:creationId xmlns:a16="http://schemas.microsoft.com/office/drawing/2014/main" id="{9F5C9B8A-2500-47F2-8C81-72736EE9D576}"/>
              </a:ext>
            </a:extLst>
          </p:cNvPr>
          <p:cNvSpPr>
            <a:spLocks xmlns:a="http://schemas.openxmlformats.org/drawingml/2006/main" noGrp="1"/>
          </p:cNvSpPr>
          <p:nvPr/>
        </p:nvSpPr>
        <p:spPr>
          <a:xfrm xmlns:a="http://schemas.openxmlformats.org/drawingml/2006/main">
            <a:off x="666750" y="635317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2502DBE2-BCE3-4020-8201-0337E3F86C82}"/>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ECA11C10-E674-452B-9AE7-C4C3810BCF25}"/>
              </a:ext>
            </a:extLst>
          </p:cNvPr>
          <p:cNvSpPr>
            <a:spLocks xmlns:a="http://schemas.openxmlformats.org/drawingml/2006/main" noGrp="1"/>
          </p:cNvSpPr>
          <p:nvPr/>
        </p:nvSpPr>
        <p:spPr>
          <a:xfrm xmlns:a="http://schemas.openxmlformats.org/drawingml/2006/main">
            <a:off x="704850" y="1514475"/>
            <a:ext cx="338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8C83"/>
                </a:solidFill>
                <a:latin typeface="Arial"/>
                <a:ea typeface="Arial"/>
                <a:cs typeface="Arial"/>
              </a:defRPr>
            </a:pPr>
            <a:r>
              <a:rPr sz="2100" b="1">
                <a:solidFill>
                  <a:srgbClr val="268C83"/>
                </a:solidFill>
                <a:latin typeface="Arial"/>
                <a:ea typeface="Arial"/>
                <a:cs typeface="Arial"/>
              </a:rPr>
              <a:t>Working prototype</a:t>
            </a:r>
          </a:p>
        </p:txBody>
      </p:sp>
      <p:sp>
        <p:nvSpPr>
          <p:cNvPr id="5" name="">
            <a:extLst xmlns:a="http://schemas.openxmlformats.org/drawingml/2006/main">
              <a:ext uri="{FF2B5EF4-FFF2-40B4-BE49-F238E27FC236}">
                <a16:creationId xmlns:a16="http://schemas.microsoft.com/office/drawing/2014/main" id="{9AA3B66E-6493-42FB-8D08-C16AA118C9AF}"/>
              </a:ext>
            </a:extLst>
          </p:cNvPr>
          <p:cNvSpPr>
            <a:spLocks xmlns:a="http://schemas.openxmlformats.org/drawingml/2006/main" noGrp="1"/>
          </p:cNvSpPr>
          <p:nvPr/>
        </p:nvSpPr>
        <p:spPr>
          <a:xfrm xmlns:a="http://schemas.openxmlformats.org/drawingml/2006/main">
            <a:off x="704850" y="21717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878BC"/>
                </a:solidFill>
                <a:latin typeface="Arial"/>
                <a:ea typeface="Arial"/>
                <a:cs typeface="Arial"/>
              </a:defRPr>
            </a:pPr>
            <a:r>
              <a:rPr sz="4050" b="1">
                <a:solidFill>
                  <a:srgbClr val="2878BC"/>
                </a:solidFill>
                <a:latin typeface="Arial"/>
                <a:ea typeface="Arial"/>
                <a:cs typeface="Arial"/>
              </a:rPr>
              <a:t>71 / 75</a:t>
            </a:r>
          </a:p>
        </p:txBody>
      </p:sp>
      <p:sp>
        <p:nvSpPr>
          <p:cNvPr id="6" name="">
            <a:extLst xmlns:a="http://schemas.openxmlformats.org/drawingml/2006/main">
              <a:ext uri="{FF2B5EF4-FFF2-40B4-BE49-F238E27FC236}">
                <a16:creationId xmlns:a16="http://schemas.microsoft.com/office/drawing/2014/main" id="{91E66344-F7A7-4535-96DF-AD008DDFBB82}"/>
              </a:ext>
            </a:extLst>
          </p:cNvPr>
          <p:cNvSpPr>
            <a:spLocks xmlns:a="http://schemas.openxmlformats.org/drawingml/2006/main" noGrp="1"/>
          </p:cNvSpPr>
          <p:nvPr/>
        </p:nvSpPr>
        <p:spPr>
          <a:xfrm xmlns:a="http://schemas.openxmlformats.org/drawingml/2006/main">
            <a:off x="704850" y="3019425"/>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simulated fault scenarios</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detected</a:t>
            </a:r>
          </a:p>
        </p:txBody>
      </p:sp>
      <p:sp>
        <p:nvSpPr>
          <p:cNvPr id="7" name="">
            <a:extLst xmlns:a="http://schemas.openxmlformats.org/drawingml/2006/main">
              <a:ext uri="{FF2B5EF4-FFF2-40B4-BE49-F238E27FC236}">
                <a16:creationId xmlns:a16="http://schemas.microsoft.com/office/drawing/2014/main" id="{F78737E6-13DB-4CF8-AA4C-600338108214}"/>
              </a:ext>
            </a:extLst>
          </p:cNvPr>
          <p:cNvSpPr>
            <a:spLocks xmlns:a="http://schemas.openxmlformats.org/drawingml/2006/main" noGrp="1"/>
          </p:cNvSpPr>
          <p:nvPr/>
        </p:nvSpPr>
        <p:spPr>
          <a:xfrm xmlns:a="http://schemas.openxmlformats.org/drawingml/2006/main">
            <a:off x="704850" y="4114800"/>
            <a:ext cx="33813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4 missed scenarios</a:t>
            </a:r>
          </a:p>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2 false alerts across</a:t>
            </a:r>
          </a:p>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350 healthy windows</a:t>
            </a:r>
          </a:p>
        </p:txBody>
      </p:sp>
      <p:sp>
        <p:nvSpPr>
          <p:cNvPr id="8" name="">
            <a:extLst xmlns:a="http://schemas.openxmlformats.org/drawingml/2006/main">
              <a:ext uri="{FF2B5EF4-FFF2-40B4-BE49-F238E27FC236}">
                <a16:creationId xmlns:a16="http://schemas.microsoft.com/office/drawing/2014/main" id="{037D53B5-19C3-4F9A-8FF8-F9E032E4C685}"/>
              </a:ext>
            </a:extLst>
          </p:cNvPr>
          <p:cNvSpPr>
            <a:spLocks xmlns:a="http://schemas.openxmlformats.org/drawingml/2006/main" noGrp="1"/>
          </p:cNvSpPr>
          <p:nvPr/>
        </p:nvSpPr>
        <p:spPr>
          <a:xfrm xmlns:a="http://schemas.openxmlformats.org/drawingml/2006/main">
            <a:off x="4448175" y="1514475"/>
            <a:ext cx="338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8C83"/>
                </a:solidFill>
                <a:latin typeface="Arial"/>
                <a:ea typeface="Arial"/>
                <a:cs typeface="Arial"/>
              </a:defRPr>
            </a:pPr>
            <a:r>
              <a:rPr sz="2100" b="1">
                <a:solidFill>
                  <a:srgbClr val="268C83"/>
                </a:solidFill>
                <a:latin typeface="Arial"/>
                <a:ea typeface="Arial"/>
                <a:cs typeface="Arial"/>
              </a:rPr>
              <a:t>Local performance</a:t>
            </a:r>
          </a:p>
        </p:txBody>
      </p:sp>
      <p:sp>
        <p:nvSpPr>
          <p:cNvPr id="9" name="">
            <a:extLst xmlns:a="http://schemas.openxmlformats.org/drawingml/2006/main">
              <a:ext uri="{FF2B5EF4-FFF2-40B4-BE49-F238E27FC236}">
                <a16:creationId xmlns:a16="http://schemas.microsoft.com/office/drawing/2014/main" id="{2EB663FF-C5FF-43F8-8785-BD06311C9A33}"/>
              </a:ext>
            </a:extLst>
          </p:cNvPr>
          <p:cNvSpPr>
            <a:spLocks xmlns:a="http://schemas.openxmlformats.org/drawingml/2006/main" noGrp="1"/>
          </p:cNvSpPr>
          <p:nvPr/>
        </p:nvSpPr>
        <p:spPr>
          <a:xfrm xmlns:a="http://schemas.openxmlformats.org/drawingml/2006/main">
            <a:off x="4448175" y="21717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878BC"/>
                </a:solidFill>
                <a:latin typeface="Arial"/>
                <a:ea typeface="Arial"/>
                <a:cs typeface="Arial"/>
              </a:defRPr>
            </a:pPr>
            <a:r>
              <a:rPr sz="4050" b="1">
                <a:solidFill>
                  <a:srgbClr val="2878BC"/>
                </a:solidFill>
                <a:latin typeface="Arial"/>
                <a:ea typeface="Arial"/>
                <a:cs typeface="Arial"/>
              </a:rPr>
              <a:t>0.9 sec</a:t>
            </a:r>
          </a:p>
        </p:txBody>
      </p:sp>
      <p:sp>
        <p:nvSpPr>
          <p:cNvPr id="10" name="">
            <a:extLst xmlns:a="http://schemas.openxmlformats.org/drawingml/2006/main">
              <a:ext uri="{FF2B5EF4-FFF2-40B4-BE49-F238E27FC236}">
                <a16:creationId xmlns:a16="http://schemas.microsoft.com/office/drawing/2014/main" id="{114AFBDB-2E00-4D30-9BEC-CE65C28E698A}"/>
              </a:ext>
            </a:extLst>
          </p:cNvPr>
          <p:cNvSpPr>
            <a:spLocks xmlns:a="http://schemas.openxmlformats.org/drawingml/2006/main" noGrp="1"/>
          </p:cNvSpPr>
          <p:nvPr/>
        </p:nvSpPr>
        <p:spPr>
          <a:xfrm xmlns:a="http://schemas.openxmlformats.org/drawingml/2006/main">
            <a:off x="4448175" y="3019425"/>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to analyze one million bits</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on the test machine</a:t>
            </a:r>
          </a:p>
        </p:txBody>
      </p:sp>
      <p:sp>
        <p:nvSpPr>
          <p:cNvPr id="11" name="">
            <a:extLst xmlns:a="http://schemas.openxmlformats.org/drawingml/2006/main">
              <a:ext uri="{FF2B5EF4-FFF2-40B4-BE49-F238E27FC236}">
                <a16:creationId xmlns:a16="http://schemas.microsoft.com/office/drawing/2014/main" id="{64228782-7A54-4DF7-890E-373AA10026FE}"/>
              </a:ext>
            </a:extLst>
          </p:cNvPr>
          <p:cNvSpPr>
            <a:spLocks xmlns:a="http://schemas.openxmlformats.org/drawingml/2006/main" noGrp="1"/>
          </p:cNvSpPr>
          <p:nvPr/>
        </p:nvSpPr>
        <p:spPr>
          <a:xfrm xmlns:a="http://schemas.openxmlformats.org/drawingml/2006/main">
            <a:off x="4448175" y="4114800"/>
            <a:ext cx="33813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10 million bits: 10.3 sec</a:t>
            </a:r>
          </a:p>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No paid API required</a:t>
            </a:r>
          </a:p>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Files stay on the laptop</a:t>
            </a:r>
          </a:p>
        </p:txBody>
      </p:sp>
      <p:sp>
        <p:nvSpPr>
          <p:cNvPr id="12" name="">
            <a:extLst xmlns:a="http://schemas.openxmlformats.org/drawingml/2006/main">
              <a:ext uri="{FF2B5EF4-FFF2-40B4-BE49-F238E27FC236}">
                <a16:creationId xmlns:a16="http://schemas.microsoft.com/office/drawing/2014/main" id="{81827831-E467-4B19-8FE1-3604E58FE21D}"/>
              </a:ext>
            </a:extLst>
          </p:cNvPr>
          <p:cNvSpPr>
            <a:spLocks xmlns:a="http://schemas.openxmlformats.org/drawingml/2006/main" noGrp="1"/>
          </p:cNvSpPr>
          <p:nvPr/>
        </p:nvSpPr>
        <p:spPr>
          <a:xfrm xmlns:a="http://schemas.openxmlformats.org/drawingml/2006/main">
            <a:off x="8286750" y="151447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8C83"/>
                </a:solidFill>
                <a:latin typeface="Arial"/>
                <a:ea typeface="Arial"/>
                <a:cs typeface="Arial"/>
              </a:defRPr>
            </a:pPr>
            <a:r>
              <a:rPr sz="2100" b="1">
                <a:solidFill>
                  <a:srgbClr val="268C83"/>
                </a:solidFill>
                <a:latin typeface="Arial"/>
                <a:ea typeface="Arial"/>
                <a:cs typeface="Arial"/>
              </a:rPr>
              <a:t>Practical pilot</a:t>
            </a:r>
          </a:p>
        </p:txBody>
      </p:sp>
      <p:sp>
        <p:nvSpPr>
          <p:cNvPr id="13" name="">
            <a:extLst xmlns:a="http://schemas.openxmlformats.org/drawingml/2006/main">
              <a:ext uri="{FF2B5EF4-FFF2-40B4-BE49-F238E27FC236}">
                <a16:creationId xmlns:a16="http://schemas.microsoft.com/office/drawing/2014/main" id="{8E3FB967-BBE8-420C-91AB-76E9BB51CF0F}"/>
              </a:ext>
            </a:extLst>
          </p:cNvPr>
          <p:cNvSpPr>
            <a:spLocks xmlns:a="http://schemas.openxmlformats.org/drawingml/2006/main" noGrp="1"/>
          </p:cNvSpPr>
          <p:nvPr/>
        </p:nvSpPr>
        <p:spPr>
          <a:xfrm xmlns:a="http://schemas.openxmlformats.org/drawingml/2006/main">
            <a:off x="8286750" y="22479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878BC"/>
                </a:solidFill>
                <a:latin typeface="Arial"/>
                <a:ea typeface="Arial"/>
                <a:cs typeface="Arial"/>
              </a:defRPr>
            </a:pPr>
            <a:r>
              <a:rPr sz="2925" b="1">
                <a:solidFill>
                  <a:srgbClr val="2878BC"/>
                </a:solidFill>
                <a:latin typeface="Arial"/>
                <a:ea typeface="Arial"/>
                <a:cs typeface="Arial"/>
              </a:rPr>
              <a:t>QRNG labs</a:t>
            </a:r>
          </a:p>
        </p:txBody>
      </p:sp>
      <p:sp>
        <p:nvSpPr>
          <p:cNvPr id="14" name="">
            <a:extLst xmlns:a="http://schemas.openxmlformats.org/drawingml/2006/main">
              <a:ext uri="{FF2B5EF4-FFF2-40B4-BE49-F238E27FC236}">
                <a16:creationId xmlns:a16="http://schemas.microsoft.com/office/drawing/2014/main" id="{98E4EA10-D70D-43D3-8F40-E3E36E2B19DF}"/>
              </a:ext>
            </a:extLst>
          </p:cNvPr>
          <p:cNvSpPr>
            <a:spLocks xmlns:a="http://schemas.openxmlformats.org/drawingml/2006/main" noGrp="1"/>
          </p:cNvSpPr>
          <p:nvPr/>
        </p:nvSpPr>
        <p:spPr>
          <a:xfrm xmlns:a="http://schemas.openxmlformats.org/drawingml/2006/main">
            <a:off x="8286750" y="30194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First users: researchers</a:t>
            </a:r>
          </a:p>
          <a:p xmlns:a="http://schemas.openxmlformats.org/drawingml/2006/main">
            <a:pPr>
              <a:defRPr sz="2025" b="0">
                <a:solidFill>
                  <a:srgbClr val="34424F"/>
                </a:solidFill>
                <a:latin typeface="Arial"/>
                <a:ea typeface="Arial"/>
                <a:cs typeface="Arial"/>
              </a:defRPr>
            </a:pPr>
            <a:r>
              <a:rPr sz="2025" b="0">
                <a:solidFill>
                  <a:srgbClr val="34424F"/>
                </a:solidFill>
                <a:latin typeface="Arial"/>
                <a:ea typeface="Arial"/>
                <a:cs typeface="Arial"/>
              </a:rPr>
              <a:t>and device test engineers</a:t>
            </a:r>
          </a:p>
        </p:txBody>
      </p:sp>
      <p:sp>
        <p:nvSpPr>
          <p:cNvPr id="15" name="">
            <a:extLst xmlns:a="http://schemas.openxmlformats.org/drawingml/2006/main">
              <a:ext uri="{FF2B5EF4-FFF2-40B4-BE49-F238E27FC236}">
                <a16:creationId xmlns:a16="http://schemas.microsoft.com/office/drawing/2014/main" id="{B8CD7C25-097B-47B4-8FC5-83B23D6888A5}"/>
              </a:ext>
            </a:extLst>
          </p:cNvPr>
          <p:cNvSpPr>
            <a:spLocks xmlns:a="http://schemas.openxmlformats.org/drawingml/2006/main" noGrp="1"/>
          </p:cNvSpPr>
          <p:nvPr/>
        </p:nvSpPr>
        <p:spPr>
          <a:xfrm xmlns:a="http://schemas.openxmlformats.org/drawingml/2006/main">
            <a:off x="8286750" y="4114800"/>
            <a:ext cx="3333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Pilot with real recordings</a:t>
            </a:r>
          </a:p>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Tune alert thresholds</a:t>
            </a:r>
          </a:p>
          <a:p xmlns:a="http://schemas.openxmlformats.org/drawingml/2006/main">
            <a:pPr>
              <a:defRPr sz="1800" b="0">
                <a:solidFill>
                  <a:srgbClr val="34424F"/>
                </a:solidFill>
                <a:latin typeface="Arial"/>
                <a:ea typeface="Arial"/>
                <a:cs typeface="Arial"/>
              </a:defRPr>
            </a:pPr>
            <a:r>
              <a:rPr sz="1800" b="0">
                <a:solidFill>
                  <a:srgbClr val="34424F"/>
                </a:solidFill>
                <a:latin typeface="Arial"/>
                <a:ea typeface="Arial"/>
                <a:cs typeface="Arial"/>
              </a:rPr>
              <a:t>Add a hardware adapter</a:t>
            </a:r>
          </a:p>
        </p:txBody>
      </p:sp>
      <p:sp>
        <p:nvSpPr>
          <p:cNvPr id="16" name="">
            <a:extLst xmlns:a="http://schemas.openxmlformats.org/drawingml/2006/main">
              <a:ext uri="{FF2B5EF4-FFF2-40B4-BE49-F238E27FC236}">
                <a16:creationId xmlns:a16="http://schemas.microsoft.com/office/drawing/2014/main" id="{C9460422-E06F-4C27-B7CB-10D78A62448D}"/>
              </a:ext>
            </a:extLst>
          </p:cNvPr>
          <p:cNvSpPr>
            <a:spLocks xmlns:a="http://schemas.openxmlformats.org/drawingml/2006/main" noGrp="1"/>
          </p:cNvSpPr>
          <p:nvPr/>
        </p:nvSpPr>
        <p:spPr>
          <a:xfrm xmlns:a="http://schemas.openxmlformats.org/drawingml/2006/main">
            <a:off x="704850" y="57150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B88"/>
                </a:solidFill>
                <a:latin typeface="Arial"/>
                <a:ea typeface="Arial"/>
                <a:cs typeface="Arial"/>
              </a:defRPr>
            </a:pPr>
            <a:r>
              <a:rPr sz="1500" b="0">
                <a:solidFill>
                  <a:srgbClr val="687B88"/>
                </a:solidFill>
                <a:latin typeface="Arial"/>
                <a:ea typeface="Arial"/>
                <a:cs typeface="Arial"/>
              </a:rPr>
              <a:t>Early-warning comparison: 16 earlier, 41 simultaneous, 3 later, 15 without a joint detection time.</a:t>
            </a:r>
          </a:p>
        </p:txBody>
      </p:sp>
      <p:sp>
        <p:nvSpPr>
          <p:cNvPr id="17" name="">
            <a:extLst xmlns:a="http://schemas.openxmlformats.org/drawingml/2006/main">
              <a:ext uri="{FF2B5EF4-FFF2-40B4-BE49-F238E27FC236}">
                <a16:creationId xmlns:a16="http://schemas.microsoft.com/office/drawing/2014/main" id="{D11E3DB0-6BE5-4A3F-94EE-66ECB4687457}"/>
              </a:ext>
            </a:extLst>
          </p:cNvPr>
          <p:cNvSpPr>
            <a:spLocks xmlns:a="http://schemas.openxmlformats.org/drawingml/2006/main" noGrp="1"/>
          </p:cNvSpPr>
          <p:nvPr/>
        </p:nvSpPr>
        <p:spPr>
          <a:xfrm xmlns:a="http://schemas.openxmlformats.org/drawingml/2006/main">
            <a:off x="704850" y="6057900"/>
            <a:ext cx="10715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B88"/>
                </a:solidFill>
                <a:latin typeface="Arial"/>
                <a:ea typeface="Arial"/>
                <a:cs typeface="Arial"/>
              </a:defRPr>
            </a:pPr>
            <a:r>
              <a:rPr sz="1350" b="0">
                <a:solidFill>
                  <a:srgbClr val="687B88"/>
                </a:solidFill>
                <a:latin typeface="Arial"/>
                <a:ea typeface="Arial"/>
                <a:cs typeface="Arial"/>
              </a:rPr>
              <a:t>Synthetic evaluation only. These results do not establish performance on physical QRNG hardware.</a:t>
            </a:r>
          </a:p>
        </p:txBody>
      </p:sp>
    </p:spTree>
    <p:extLst>
      <p:ext uri="{BB962C8B-B14F-4D97-AF65-F5344CB8AC3E}">
        <p14:creationId xmlns:p14="http://schemas.microsoft.com/office/powerpoint/2010/main" val="5221107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AEFC04-DD04-499D-ACF0-19B41EC643BC}"/>
              </a:ext>
            </a:extLst>
          </p:cNvPr>
          <p:cNvSpPr>
            <a:spLocks xmlns:a="http://schemas.openxmlformats.org/drawingml/2006/main" noGrp="1"/>
          </p:cNvSpPr>
          <p:nvPr/>
        </p:nvSpPr>
        <p:spPr>
          <a:xfrm xmlns:a="http://schemas.openxmlformats.org/drawingml/2006/main">
            <a:off x="666750" y="457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4424F"/>
                </a:solidFill>
                <a:latin typeface="Arial"/>
                <a:ea typeface="Arial"/>
                <a:cs typeface="Arial"/>
              </a:defRPr>
            </a:pPr>
            <a:r>
              <a:rPr sz="3300" b="1">
                <a:solidFill>
                  <a:srgbClr val="34424F"/>
                </a:solidFill>
                <a:latin typeface="Arial"/>
                <a:ea typeface="Arial"/>
                <a:cs typeface="Arial"/>
              </a:rPr>
              <a:t>Impact &amp; benefits</a:t>
            </a:r>
          </a:p>
        </p:txBody>
      </p:sp>
      <p:sp>
        <p:nvSpPr>
          <p:cNvPr id="2" name="">
            <a:extLst xmlns:a="http://schemas.openxmlformats.org/drawingml/2006/main">
              <a:ext uri="{FF2B5EF4-FFF2-40B4-BE49-F238E27FC236}">
                <a16:creationId xmlns:a16="http://schemas.microsoft.com/office/drawing/2014/main" id="{2BCEC391-E56A-44B4-886F-6B1CDC14DA5D}"/>
              </a:ext>
            </a:extLst>
          </p:cNvPr>
          <p:cNvSpPr>
            <a:spLocks xmlns:a="http://schemas.openxmlformats.org/drawingml/2006/main" noGrp="1"/>
          </p:cNvSpPr>
          <p:nvPr/>
        </p:nvSpPr>
        <p:spPr>
          <a:xfrm xmlns:a="http://schemas.openxmlformats.org/drawingml/2006/main">
            <a:off x="666750" y="635317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F31532C8-6AF5-41EF-BA92-65BB2BE9D374}"/>
              </a:ext>
            </a:extLst>
          </p:cNvPr>
          <p:cNvSpPr>
            <a:spLocks xmlns:a="http://schemas.openxmlformats.org/drawingml/2006/main" noGrp="1"/>
          </p:cNvSpPr>
          <p:nvPr/>
        </p:nvSpPr>
        <p:spPr>
          <a:xfrm xmlns:a="http://schemas.openxmlformats.org/drawingml/2006/main">
            <a:off x="11049000" y="63531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B88"/>
                </a:solidFill>
                <a:latin typeface="Arial"/>
                <a:ea typeface="Arial"/>
                <a:cs typeface="Arial"/>
              </a:defRPr>
            </a:pPr>
            <a:r>
              <a:rPr sz="1275" b="0">
                <a:solidFill>
                  <a:srgbClr val="687B8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8138052-B95C-49C8-B64F-D8EDCAC92C52}"/>
              </a:ext>
            </a:extLst>
          </p:cNvPr>
          <p:cNvSpPr>
            <a:spLocks xmlns:a="http://schemas.openxmlformats.org/drawingml/2006/main" noGrp="1"/>
          </p:cNvSpPr>
          <p:nvPr/>
        </p:nvSpPr>
        <p:spPr>
          <a:xfrm xmlns:a="http://schemas.openxmlformats.org/drawingml/2006/main">
            <a:off x="704850" y="14001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8BC"/>
                </a:solidFill>
                <a:latin typeface="Arial"/>
                <a:ea typeface="Arial"/>
                <a:cs typeface="Arial"/>
              </a:defRPr>
            </a:pPr>
            <a:r>
              <a:rPr sz="2400" b="1">
                <a:solidFill>
                  <a:srgbClr val="2878BC"/>
                </a:solidFill>
                <a:latin typeface="Arial"/>
                <a:ea typeface="Arial"/>
                <a:cs typeface="Arial"/>
              </a:rPr>
              <a:t>A clearer investigation for QRNG engineers</a:t>
            </a:r>
          </a:p>
        </p:txBody>
      </p:sp>
      <p:sp>
        <p:nvSpPr>
          <p:cNvPr id="5" name="">
            <a:extLst xmlns:a="http://schemas.openxmlformats.org/drawingml/2006/main">
              <a:ext uri="{FF2B5EF4-FFF2-40B4-BE49-F238E27FC236}">
                <a16:creationId xmlns:a16="http://schemas.microsoft.com/office/drawing/2014/main" id="{C3986900-C932-43C4-8D9B-67F8BAEC9924}"/>
              </a:ext>
            </a:extLst>
          </p:cNvPr>
          <p:cNvSpPr>
            <a:spLocks xmlns:a="http://schemas.openxmlformats.org/drawingml/2006/main" noGrp="1"/>
          </p:cNvSpPr>
          <p:nvPr/>
        </p:nvSpPr>
        <p:spPr>
          <a:xfrm xmlns:a="http://schemas.openxmlformats.org/drawingml/2006/main">
            <a:off x="704850" y="24193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8C83"/>
                </a:solidFill>
                <a:latin typeface="Arial"/>
                <a:ea typeface="Arial"/>
                <a:cs typeface="Arial"/>
              </a:defRPr>
            </a:pPr>
            <a:r>
              <a:rPr sz="2100" b="1">
                <a:solidFill>
                  <a:srgbClr val="268C83"/>
                </a:solidFill>
                <a:latin typeface="Arial"/>
                <a:ea typeface="Arial"/>
                <a:cs typeface="Arial"/>
              </a:rPr>
              <a:t>Earlier attention</a:t>
            </a:r>
          </a:p>
        </p:txBody>
      </p:sp>
      <p:sp>
        <p:nvSpPr>
          <p:cNvPr id="6" name="">
            <a:extLst xmlns:a="http://schemas.openxmlformats.org/drawingml/2006/main">
              <a:ext uri="{FF2B5EF4-FFF2-40B4-BE49-F238E27FC236}">
                <a16:creationId xmlns:a16="http://schemas.microsoft.com/office/drawing/2014/main" id="{D2C165E2-9C79-4BB9-9965-01FE8DBCAC05}"/>
              </a:ext>
            </a:extLst>
          </p:cNvPr>
          <p:cNvSpPr>
            <a:spLocks xmlns:a="http://schemas.openxmlformats.org/drawingml/2006/main" noGrp="1"/>
          </p:cNvSpPr>
          <p:nvPr/>
        </p:nvSpPr>
        <p:spPr>
          <a:xfrm xmlns:a="http://schemas.openxmlformats.org/drawingml/2006/main">
            <a:off x="4895850" y="2409825"/>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424F"/>
                </a:solidFill>
                <a:latin typeface="Arial"/>
                <a:ea typeface="Arial"/>
                <a:cs typeface="Arial"/>
              </a:defRPr>
            </a:pPr>
            <a:r>
              <a:rPr sz="2100" b="0">
                <a:solidFill>
                  <a:srgbClr val="34424F"/>
                </a:solidFill>
                <a:latin typeface="Arial"/>
                <a:ea typeface="Arial"/>
                <a:cs typeface="Arial"/>
              </a:rPr>
              <a:t>Surface small, persistent changes</a:t>
            </a:r>
          </a:p>
          <a:p xmlns:a="http://schemas.openxmlformats.org/drawingml/2006/main">
            <a:pPr>
              <a:defRPr sz="2100" b="0">
                <a:solidFill>
                  <a:srgbClr val="34424F"/>
                </a:solidFill>
                <a:latin typeface="Arial"/>
                <a:ea typeface="Arial"/>
                <a:cs typeface="Arial"/>
              </a:defRPr>
            </a:pPr>
            <a:r>
              <a:rPr sz="2100" b="0">
                <a:solidFill>
                  <a:srgbClr val="34424F"/>
                </a:solidFill>
                <a:latin typeface="Arial"/>
                <a:ea typeface="Arial"/>
                <a:cs typeface="Arial"/>
              </a:rPr>
              <a:t>that deserve investigation.</a:t>
            </a:r>
          </a:p>
        </p:txBody>
      </p:sp>
      <p:sp>
        <p:nvSpPr>
          <p:cNvPr id="7" name="">
            <a:extLst xmlns:a="http://schemas.openxmlformats.org/drawingml/2006/main">
              <a:ext uri="{FF2B5EF4-FFF2-40B4-BE49-F238E27FC236}">
                <a16:creationId xmlns:a16="http://schemas.microsoft.com/office/drawing/2014/main" id="{273C7935-5FC9-4A51-81F7-10D22FAC7C59}"/>
              </a:ext>
            </a:extLst>
          </p:cNvPr>
          <p:cNvSpPr>
            <a:spLocks xmlns:a="http://schemas.openxmlformats.org/drawingml/2006/main" noGrp="1"/>
          </p:cNvSpPr>
          <p:nvPr/>
        </p:nvSpPr>
        <p:spPr>
          <a:xfrm xmlns:a="http://schemas.openxmlformats.org/drawingml/2006/main">
            <a:off x="704850" y="35242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8C83"/>
                </a:solidFill>
                <a:latin typeface="Arial"/>
                <a:ea typeface="Arial"/>
                <a:cs typeface="Arial"/>
              </a:defRPr>
            </a:pPr>
            <a:r>
              <a:rPr sz="2100" b="1">
                <a:solidFill>
                  <a:srgbClr val="268C83"/>
                </a:solidFill>
                <a:latin typeface="Arial"/>
                <a:ea typeface="Arial"/>
                <a:cs typeface="Arial"/>
              </a:rPr>
              <a:t>More focused debugging</a:t>
            </a:r>
          </a:p>
        </p:txBody>
      </p:sp>
      <p:sp>
        <p:nvSpPr>
          <p:cNvPr id="8" name="">
            <a:extLst xmlns:a="http://schemas.openxmlformats.org/drawingml/2006/main">
              <a:ext uri="{FF2B5EF4-FFF2-40B4-BE49-F238E27FC236}">
                <a16:creationId xmlns:a16="http://schemas.microsoft.com/office/drawing/2014/main" id="{622F6FAA-57B2-4B31-BFB7-2F09E87CF5E6}"/>
              </a:ext>
            </a:extLst>
          </p:cNvPr>
          <p:cNvSpPr>
            <a:spLocks xmlns:a="http://schemas.openxmlformats.org/drawingml/2006/main" noGrp="1"/>
          </p:cNvSpPr>
          <p:nvPr/>
        </p:nvSpPr>
        <p:spPr>
          <a:xfrm xmlns:a="http://schemas.openxmlformats.org/drawingml/2006/main">
            <a:off x="4895850" y="3514725"/>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424F"/>
                </a:solidFill>
                <a:latin typeface="Arial"/>
                <a:ea typeface="Arial"/>
                <a:cs typeface="Arial"/>
              </a:defRPr>
            </a:pPr>
            <a:r>
              <a:rPr sz="2100" b="0">
                <a:solidFill>
                  <a:srgbClr val="34424F"/>
                </a:solidFill>
                <a:latin typeface="Arial"/>
                <a:ea typeface="Arial"/>
                <a:cs typeface="Arial"/>
              </a:rPr>
              <a:t>Locate affected windows and inspect</a:t>
            </a:r>
          </a:p>
          <a:p xmlns:a="http://schemas.openxmlformats.org/drawingml/2006/main">
            <a:pPr>
              <a:defRPr sz="2100" b="0">
                <a:solidFill>
                  <a:srgbClr val="34424F"/>
                </a:solidFill>
                <a:latin typeface="Arial"/>
                <a:ea typeface="Arial"/>
                <a:cs typeface="Arial"/>
              </a:defRPr>
            </a:pPr>
            <a:r>
              <a:rPr sz="2100" b="0">
                <a:solidFill>
                  <a:srgbClr val="34424F"/>
                </a:solidFill>
                <a:latin typeface="Arial"/>
                <a:ea typeface="Arial"/>
                <a:cs typeface="Arial"/>
              </a:rPr>
              <a:t>the measurements behind each alert.</a:t>
            </a:r>
          </a:p>
        </p:txBody>
      </p:sp>
      <p:sp>
        <p:nvSpPr>
          <p:cNvPr id="9" name="">
            <a:extLst xmlns:a="http://schemas.openxmlformats.org/drawingml/2006/main">
              <a:ext uri="{FF2B5EF4-FFF2-40B4-BE49-F238E27FC236}">
                <a16:creationId xmlns:a16="http://schemas.microsoft.com/office/drawing/2014/main" id="{1AD9B690-1CCA-441B-8AE3-2D5027D91E3A}"/>
              </a:ext>
            </a:extLst>
          </p:cNvPr>
          <p:cNvSpPr>
            <a:spLocks xmlns:a="http://schemas.openxmlformats.org/drawingml/2006/main" noGrp="1"/>
          </p:cNvSpPr>
          <p:nvPr/>
        </p:nvSpPr>
        <p:spPr>
          <a:xfrm xmlns:a="http://schemas.openxmlformats.org/drawingml/2006/main">
            <a:off x="704850" y="46291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68C83"/>
                </a:solidFill>
                <a:latin typeface="Arial"/>
                <a:ea typeface="Arial"/>
                <a:cs typeface="Arial"/>
              </a:defRPr>
            </a:pPr>
            <a:r>
              <a:rPr sz="2100" b="1">
                <a:solidFill>
                  <a:srgbClr val="268C83"/>
                </a:solidFill>
                <a:latin typeface="Arial"/>
                <a:ea typeface="Arial"/>
                <a:cs typeface="Arial"/>
              </a:rPr>
              <a:t>Repeatable comparisons</a:t>
            </a:r>
          </a:p>
        </p:txBody>
      </p:sp>
      <p:sp>
        <p:nvSpPr>
          <p:cNvPr id="10" name="">
            <a:extLst xmlns:a="http://schemas.openxmlformats.org/drawingml/2006/main">
              <a:ext uri="{FF2B5EF4-FFF2-40B4-BE49-F238E27FC236}">
                <a16:creationId xmlns:a16="http://schemas.microsoft.com/office/drawing/2014/main" id="{124DDE58-BDCD-4CA6-8D37-F59074D1E7BD}"/>
              </a:ext>
            </a:extLst>
          </p:cNvPr>
          <p:cNvSpPr>
            <a:spLocks xmlns:a="http://schemas.openxmlformats.org/drawingml/2006/main" noGrp="1"/>
          </p:cNvSpPr>
          <p:nvPr/>
        </p:nvSpPr>
        <p:spPr>
          <a:xfrm xmlns:a="http://schemas.openxmlformats.org/drawingml/2006/main">
            <a:off x="4895850" y="4619625"/>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4424F"/>
                </a:solidFill>
                <a:latin typeface="Arial"/>
                <a:ea typeface="Arial"/>
                <a:cs typeface="Arial"/>
              </a:defRPr>
            </a:pPr>
            <a:r>
              <a:rPr sz="2100" b="0">
                <a:solidFill>
                  <a:srgbClr val="34424F"/>
                </a:solidFill>
                <a:latin typeface="Arial"/>
                <a:ea typeface="Arial"/>
                <a:cs typeface="Arial"/>
              </a:rPr>
              <a:t>Compare runs after adjustments and</a:t>
            </a:r>
          </a:p>
          <a:p xmlns:a="http://schemas.openxmlformats.org/drawingml/2006/main">
            <a:pPr>
              <a:defRPr sz="2100" b="0">
                <a:solidFill>
                  <a:srgbClr val="34424F"/>
                </a:solidFill>
                <a:latin typeface="Arial"/>
                <a:ea typeface="Arial"/>
                <a:cs typeface="Arial"/>
              </a:defRPr>
            </a:pPr>
            <a:r>
              <a:rPr sz="2100" b="0">
                <a:solidFill>
                  <a:srgbClr val="34424F"/>
                </a:solidFill>
                <a:latin typeface="Arial"/>
                <a:ea typeface="Arial"/>
                <a:cs typeface="Arial"/>
              </a:rPr>
              <a:t>share a traceable health passport.</a:t>
            </a:r>
          </a:p>
        </p:txBody>
      </p:sp>
      <p:sp>
        <p:nvSpPr>
          <p:cNvPr id="11" name="">
            <a:extLst xmlns:a="http://schemas.openxmlformats.org/drawingml/2006/main">
              <a:ext uri="{FF2B5EF4-FFF2-40B4-BE49-F238E27FC236}">
                <a16:creationId xmlns:a16="http://schemas.microsoft.com/office/drawing/2014/main" id="{2356FEDF-F119-48FC-950A-A8A207FAFBB6}"/>
              </a:ext>
            </a:extLst>
          </p:cNvPr>
          <p:cNvSpPr>
            <a:spLocks xmlns:a="http://schemas.openxmlformats.org/drawingml/2006/main" noGrp="1"/>
          </p:cNvSpPr>
          <p:nvPr/>
        </p:nvSpPr>
        <p:spPr>
          <a:xfrm xmlns:a="http://schemas.openxmlformats.org/drawingml/2006/main">
            <a:off x="704850" y="56578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8BC"/>
                </a:solidFill>
                <a:latin typeface="Arial"/>
                <a:ea typeface="Arial"/>
                <a:cs typeface="Arial"/>
              </a:defRPr>
            </a:pPr>
            <a:r>
              <a:rPr sz="1875" b="1">
                <a:solidFill>
                  <a:srgbClr val="2878BC"/>
                </a:solidFill>
                <a:latin typeface="Arial"/>
                <a:ea typeface="Arial"/>
                <a:cs typeface="Arial"/>
              </a:rPr>
              <a:t>Next step: validate with real QRNG data and hardware measurements.</a:t>
            </a:r>
          </a:p>
        </p:txBody>
      </p:sp>
      <p:sp>
        <p:nvSpPr>
          <p:cNvPr id="12" name="">
            <a:extLst xmlns:a="http://schemas.openxmlformats.org/drawingml/2006/main">
              <a:ext uri="{FF2B5EF4-FFF2-40B4-BE49-F238E27FC236}">
                <a16:creationId xmlns:a16="http://schemas.microsoft.com/office/drawing/2014/main" id="{26AA5B04-82C6-426B-94FC-5FFAF49AA5B0}"/>
              </a:ext>
            </a:extLst>
          </p:cNvPr>
          <p:cNvSpPr>
            <a:spLocks xmlns:a="http://schemas.openxmlformats.org/drawingml/2006/main" noGrp="1"/>
          </p:cNvSpPr>
          <p:nvPr/>
        </p:nvSpPr>
        <p:spPr>
          <a:xfrm xmlns:a="http://schemas.openxmlformats.org/drawingml/2006/main">
            <a:off x="704850" y="60579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B88"/>
                </a:solidFill>
                <a:latin typeface="Arial"/>
                <a:ea typeface="Arial"/>
                <a:cs typeface="Arial"/>
              </a:defRPr>
            </a:pPr>
            <a:r>
              <a:rPr sz="1500" b="0">
                <a:solidFill>
                  <a:srgbClr val="687B88"/>
                </a:solidFill>
                <a:latin typeface="Arial"/>
                <a:ea typeface="Arial"/>
                <a:cs typeface="Arial"/>
              </a:rPr>
              <a:t>Statistical evidence alone cannot establish quantum origin or cryptographic security.</a:t>
            </a:r>
          </a:p>
        </p:txBody>
      </p:sp>
    </p:spTree>
    <p:extLst>
      <p:ext uri="{BB962C8B-B14F-4D97-AF65-F5344CB8AC3E}">
        <p14:creationId xmlns:p14="http://schemas.microsoft.com/office/powerpoint/2010/main" val="2044889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2026-09-25T09:50:24.4470000Z</dcterms:created>
  <dcterms:modified xsi:type="dcterms:W3CDTF">2026-09-25T09:50:24.4470000Z</dcterms:modified>
</coreProperties>
</file>