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cb05b90ac34ecc" /><Relationship Type="http://schemas.openxmlformats.org/officeDocument/2006/relationships/extended-properties" Target="/docProps/app.xml" Id="Rf265b6a1a53a4486" /><Relationship Type="http://schemas.openxmlformats.org/officeDocument/2006/relationships/officeDocument" Target="/ppt/presentation.xml" Id="R3cc661d68a47462e" /></Relationships>
</file>

<file path=ppt/presentation.xml><?xml version="1.0" encoding="utf-8"?>
<p:presentation xmlns:p="http://schemas.openxmlformats.org/presentationml/2006/main">
  <p:sldMasterIdLst>
    <p:sldMasterId xmlns:r="http://schemas.openxmlformats.org/officeDocument/2006/relationships" id="2147483648" r:id="Rf6de2fe5e88f4ec1"/>
  </p:sldMasterIdLst>
  <p:notesMasterIdLst>
    <p:notesMasterId xmlns:r="http://schemas.openxmlformats.org/officeDocument/2006/relationships" r:id="Rc5565dc8cc7546b0"/>
  </p:notesMasterIdLst>
  <p:sldIdLst>
    <p:sldId xmlns:r="http://schemas.openxmlformats.org/officeDocument/2006/relationships" id="256" r:id="Rb332e5e722bd4b35"/>
    <p:sldId xmlns:r="http://schemas.openxmlformats.org/officeDocument/2006/relationships" id="257" r:id="Rcc1bc27f48d7468e"/>
    <p:sldId xmlns:r="http://schemas.openxmlformats.org/officeDocument/2006/relationships" id="258" r:id="R364679046090453c"/>
    <p:sldId xmlns:r="http://schemas.openxmlformats.org/officeDocument/2006/relationships" id="259" r:id="R8827fda7d9304bc5"/>
    <p:sldId xmlns:r="http://schemas.openxmlformats.org/officeDocument/2006/relationships" id="260" r:id="Racd9f4a1e22b4c7e"/>
    <p:sldId xmlns:r="http://schemas.openxmlformats.org/officeDocument/2006/relationships" id="261" r:id="Re3557ce3bd0d45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b2d7df0b7f46b8" /><Relationship Type="http://schemas.openxmlformats.org/officeDocument/2006/relationships/slideMaster" Target="/ppt/slideMasters/slideMaster1.xml" Id="Rf6de2fe5e88f4ec1" /><Relationship Type="http://schemas.openxmlformats.org/officeDocument/2006/relationships/notesMaster" Target="/ppt/notesMasters/notesMaster1.xml" Id="Rc5565dc8cc7546b0" /><Relationship Type="http://schemas.openxmlformats.org/officeDocument/2006/relationships/presProps" Target="/ppt/presProps.xml" Id="Rf8a4c70f4a1244e0" /><Relationship Type="http://schemas.openxmlformats.org/officeDocument/2006/relationships/tableStyles" Target="/ppt/tableStyles.xml" Id="R252962813c50467e" /><Relationship Type="http://schemas.openxmlformats.org/officeDocument/2006/relationships/slide" Target="/ppt/slides/slide1.xml" Id="Rb332e5e722bd4b35" /><Relationship Type="http://schemas.openxmlformats.org/officeDocument/2006/relationships/slide" Target="/ppt/slides/slide2.xml" Id="Rcc1bc27f48d7468e" /><Relationship Type="http://schemas.openxmlformats.org/officeDocument/2006/relationships/slide" Target="/ppt/slides/slide3.xml" Id="R364679046090453c" /><Relationship Type="http://schemas.openxmlformats.org/officeDocument/2006/relationships/slide" Target="/ppt/slides/slide4.xml" Id="R8827fda7d9304bc5" /><Relationship Type="http://schemas.openxmlformats.org/officeDocument/2006/relationships/slide" Target="/ppt/slides/slide5.xml" Id="Racd9f4a1e22b4c7e" /><Relationship Type="http://schemas.openxmlformats.org/officeDocument/2006/relationships/slide" Target="/ppt/slides/slide6.xml" Id="Re3557ce3bd0d45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3667f195dc4e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6e85560dfe4be2" /><Relationship Type="http://schemas.openxmlformats.org/officeDocument/2006/relationships/notesMaster" Target="/ppt/notesMasters/notesMaster1.xml" Id="R2ccb77be4b3a4a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191c13a2d449cb" /><Relationship Type="http://schemas.openxmlformats.org/officeDocument/2006/relationships/notesMaster" Target="/ppt/notesMasters/notesMaster1.xml" Id="R3f813561438b49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2d5ea02199473c" /><Relationship Type="http://schemas.openxmlformats.org/officeDocument/2006/relationships/notesMaster" Target="/ppt/notesMasters/notesMaster1.xml" Id="R87e8714ba01746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68e235c58d437d" /><Relationship Type="http://schemas.openxmlformats.org/officeDocument/2006/relationships/notesMaster" Target="/ppt/notesMasters/notesMaster1.xml" Id="R0943a22dd2c045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912a930d484ddc" /><Relationship Type="http://schemas.openxmlformats.org/officeDocument/2006/relationships/notesMaster" Target="/ppt/notesMasters/notesMaster1.xml" Id="Raf5cb6b711d14e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3410f2de1e4d1a" /><Relationship Type="http://schemas.openxmlformats.org/officeDocument/2006/relationships/notesMaster" Target="/ppt/notesMasters/notesMaster1.xml" Id="R38aec539d9ff4d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A bit is a zero or one. Quantum processes can provide randomness, but the measurement and processing pipeline can introduce bias or dependence. A pass/fail summary is useful, but it does not alone tell an engineer when the behavior changed. Avoid claiming every existing validator only provides pass/fail. Bias means unequal zero/one frequency. Correlation means a relationship between bits.</a:t>
            </a:r>
          </a:p>
          <a:p xmlns:a="http://schemas.openxmlformats.org/drawingml/2006/main">
            <a:r>
              <a:t>Source: user-supplied WO-012 brief and presentation outline.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Each window contains a fixed number of bits. We preserve the order so we can locate the change. The display also has Calibrating and Insufficient Data states. A reference can come from a supplied dataset. Otherwise the first 30 complete windows form an explicitly unverified baseline. The platform does not know that this initial data is physically healthy.</a:t>
            </a:r>
          </a:p>
          <a:p xmlns:a="http://schemas.openxmlformats.org/drawingml/2006/main">
            <a:r>
              <a:t>Source: q-sentinel/README.md and user outline.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Shannon, min and collision entropy here are empirical marginal estimates. Min entropy reflects the most probable bit, not all sequence predictability. CUSUM stands for cumulative sum. It adds evidence of deviations from a frozen baseline and helps detect persistent changes. DFT checks spectral structure. Cumulative Sums checks excursions of the bitstream random walk. The prototype implements six NIST families, not the full suite. Approximate Entropy and Serial are future additions. Q-Advisor summarizes measured evidence with deterministic rules. Statistical tests cannot establish quantum origin.</a:t>
            </a:r>
          </a:p>
          <a:p xmlns:a="http://schemas.openxmlformats.org/drawingml/2006/main">
            <a:r>
              <a:t>Sources: q-sentinel/README.md; q-sentinel/nist/; NIST SP 800-22 Rev.1a https://csrc.nist.gov/pubs/sp/800/22/r1/upd1/final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 No quantum hardware is needed to demonstrate the analysis workflow. The engineering simulation generates classical pseudorandom bits and injects known faults. Keep simulation ground truth separate from detector inputs. Existing evaluation detected 71 of 75 simulated fault scenarios, with 4 misses and 2 false alert events across 350 healthy monitoring windows. These results do not validate physical hardware performance. The current working app is local. React, FastAPI, Firebase, Cloudflare and Render are a proposed deployment architecture from the supplied outline, not a completed deployment. First users are QRNG researchers and device test engineers. A real-data pilot should establish value before production deployment.</a:t>
            </a:r>
          </a:p>
          <a:p xmlns:a="http://schemas.openxmlformats.org/drawingml/2006/main">
            <a:r>
              <a:t>Sources: q-sentinel/output/evaluation-summary.json; q-sentinel/README.md; user deployment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 These are intended engineering benefits, not measured reductions in downtime or financial savings. A useful diagnosis says the statistical signature is consistent with bias or correlation. It does not prove a detector is broken. The health score is an operational summary, not a probability of security. Monitoring results can guide inspection of raw acquisition and post-processing.</a:t>
            </a:r>
          </a:p>
          <a:p xmlns:a="http://schemas.openxmlformats.org/drawingml/2006/main">
            <a:r>
              <a:t>Source: user outline and q-sentinel/README.md.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then demonstrate. Start healthy, inject gradual degradation, inspect the first actual event and open Q-Advisor. Use the computed values on screen. The supplied draft numbers entropy 0.998, health 98 and Window 63 are illustrative, not fixed outcomes. Do not promise a fixed order of alerts and NIST failures. The reproducible existing demo report first enters Early Warning at window 56, Degraded at 66 and Critical at 92, with a temporary recovery between. It uses gradual bias followed by a stuck-output segment. Other faults need not increase bias and correlation together. Suggested conclusion: Q-Sentinel connects statistical validation to a repeatable engineering investigation.</a:t>
            </a:r>
          </a:p>
          <a:p xmlns:a="http://schemas.openxmlformats.org/drawingml/2006/main">
            <a:r>
              <a:t>Sources: user outline; q-sentinel/DEMO.md; q-sentinel/output/sample-passport.json.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0dbd4e855a44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485f72af844e94" /><Relationship Type="http://schemas.openxmlformats.org/officeDocument/2006/relationships/slideLayout" Target="/ppt/slideLayouts/slideLayout1.xml" Id="R5245aa5b4c9844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45aa5b4c9844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b43c0cef734f00" /><Relationship Type="http://schemas.openxmlformats.org/officeDocument/2006/relationships/notesSlide" Target="/ppt/notesSlides/notesSlide1.xml" Id="R72afb430af2746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df90e264ce44c0" /><Relationship Type="http://schemas.openxmlformats.org/officeDocument/2006/relationships/notesSlide" Target="/ppt/notesSlides/notesSlide2.xml" Id="R246f336966c440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9450dd9b1745e3" /><Relationship Type="http://schemas.openxmlformats.org/officeDocument/2006/relationships/notesSlide" Target="/ppt/notesSlides/notesSlide3.xml" Id="Rb646e5768b6d4b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9defcd26744030" /><Relationship Type="http://schemas.openxmlformats.org/officeDocument/2006/relationships/notesSlide" Target="/ppt/notesSlides/notesSlide4.xml" Id="R11d9d55ae7fa46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0851570613418f" /><Relationship Type="http://schemas.openxmlformats.org/officeDocument/2006/relationships/notesSlide" Target="/ppt/notesSlides/notesSlide5.xml" Id="R6656da8c0e2940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b1ddb7abbd4cc4" /><Relationship Type="http://schemas.openxmlformats.org/officeDocument/2006/relationships/notesSlide" Target="/ppt/notesSlides/notesSlide6.xml" Id="R49d44342ea0949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A6D5E51-49E8-44F3-AA9D-9C23886A3EED}"/>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E0E120EC-2C3B-47CD-9151-CD1502E12456}"/>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The problem with QRNGs</a:t>
            </a:r>
          </a:p>
        </p:txBody>
      </p:sp>
      <p:sp>
        <p:nvSpPr>
          <p:cNvPr id="3" name="">
            <a:extLst xmlns:a="http://schemas.openxmlformats.org/drawingml/2006/main">
              <a:ext uri="{FF2B5EF4-FFF2-40B4-BE49-F238E27FC236}">
                <a16:creationId xmlns:a16="http://schemas.microsoft.com/office/drawing/2014/main" id="{9772B2EA-B228-4C3D-A01F-10E60D0CFA39}"/>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4CDE2211-7604-46D6-AF68-C3D8E6076B1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9B617A5-9B82-4A12-97E5-D99D7172DC52}"/>
              </a:ext>
            </a:extLst>
          </p:cNvPr>
          <p:cNvSpPr>
            <a:spLocks xmlns:a="http://schemas.openxmlformats.org/drawingml/2006/main" noGrp="1"/>
          </p:cNvSpPr>
          <p:nvPr/>
        </p:nvSpPr>
        <p:spPr>
          <a:xfrm xmlns:a="http://schemas.openxmlformats.org/drawingml/2006/main">
            <a:off x="685800" y="181927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354653"/>
                </a:solidFill>
                <a:latin typeface="Arial"/>
                <a:ea typeface="Arial"/>
                <a:cs typeface="Arial"/>
              </a:defRPr>
            </a:pPr>
            <a:r>
              <a:rPr sz="2175" b="0">
                <a:solidFill>
                  <a:srgbClr val="354653"/>
                </a:solidFill>
                <a:latin typeface="Arial"/>
                <a:ea typeface="Arial"/>
                <a:cs typeface="Arial"/>
              </a:rPr>
              <a:t>A Quantum Random Number Generator produces bits</a:t>
            </a:r>
          </a:p>
          <a:p xmlns:a="http://schemas.openxmlformats.org/drawingml/2006/main">
            <a:pPr>
              <a:defRPr sz="2175" b="0">
                <a:solidFill>
                  <a:srgbClr val="354653"/>
                </a:solidFill>
                <a:latin typeface="Arial"/>
                <a:ea typeface="Arial"/>
                <a:cs typeface="Arial"/>
              </a:defRPr>
            </a:pPr>
            <a:r>
              <a:rPr sz="2175" b="0">
                <a:solidFill>
                  <a:srgbClr val="354653"/>
                </a:solidFill>
                <a:latin typeface="Arial"/>
                <a:ea typeface="Arial"/>
                <a:cs typeface="Arial"/>
              </a:rPr>
              <a:t>used in applications such as cryptography.</a:t>
            </a:r>
          </a:p>
        </p:txBody>
      </p:sp>
      <p:sp>
        <p:nvSpPr>
          <p:cNvPr id="6" name="">
            <a:extLst xmlns:a="http://schemas.openxmlformats.org/drawingml/2006/main">
              <a:ext uri="{FF2B5EF4-FFF2-40B4-BE49-F238E27FC236}">
                <a16:creationId xmlns:a16="http://schemas.microsoft.com/office/drawing/2014/main" id="{0D6763CA-9213-4692-92BB-FFDDB56272F6}"/>
              </a:ext>
            </a:extLst>
          </p:cNvPr>
          <p:cNvSpPr>
            <a:spLocks xmlns:a="http://schemas.openxmlformats.org/drawingml/2006/main" noGrp="1"/>
          </p:cNvSpPr>
          <p:nvPr/>
        </p:nvSpPr>
        <p:spPr>
          <a:xfrm xmlns:a="http://schemas.openxmlformats.org/drawingml/2006/main">
            <a:off x="685800" y="2809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2878BC"/>
                </a:solidFill>
                <a:latin typeface="Arial"/>
                <a:ea typeface="Arial"/>
                <a:cs typeface="Arial"/>
              </a:defRPr>
            </a:pPr>
            <a:r>
              <a:rPr sz="3000" b="0">
                <a:solidFill>
                  <a:srgbClr val="2878BC"/>
                </a:solidFill>
                <a:latin typeface="Arial"/>
                <a:ea typeface="Arial"/>
                <a:cs typeface="Arial"/>
              </a:rPr>
              <a:t>101101001011010010101101…</a:t>
            </a:r>
          </a:p>
        </p:txBody>
      </p:sp>
      <p:sp>
        <p:nvSpPr>
          <p:cNvPr id="7" name="">
            <a:extLst xmlns:a="http://schemas.openxmlformats.org/drawingml/2006/main">
              <a:ext uri="{FF2B5EF4-FFF2-40B4-BE49-F238E27FC236}">
                <a16:creationId xmlns:a16="http://schemas.microsoft.com/office/drawing/2014/main" id="{084F5D81-E91B-40CA-B1AB-A258203FC148}"/>
              </a:ext>
            </a:extLst>
          </p:cNvPr>
          <p:cNvSpPr>
            <a:spLocks xmlns:a="http://schemas.openxmlformats.org/drawingml/2006/main" noGrp="1"/>
          </p:cNvSpPr>
          <p:nvPr/>
        </p:nvSpPr>
        <p:spPr>
          <a:xfrm xmlns:a="http://schemas.openxmlformats.org/drawingml/2006/main">
            <a:off x="685800" y="37814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Quality can change</a:t>
            </a:r>
          </a:p>
        </p:txBody>
      </p:sp>
      <p:sp>
        <p:nvSpPr>
          <p:cNvPr id="8" name="">
            <a:extLst xmlns:a="http://schemas.openxmlformats.org/drawingml/2006/main">
              <a:ext uri="{FF2B5EF4-FFF2-40B4-BE49-F238E27FC236}">
                <a16:creationId xmlns:a16="http://schemas.microsoft.com/office/drawing/2014/main" id="{51CFC11B-B6AE-4D10-A66F-9D327EBA9A4E}"/>
              </a:ext>
            </a:extLst>
          </p:cNvPr>
          <p:cNvSpPr>
            <a:spLocks xmlns:a="http://schemas.openxmlformats.org/drawingml/2006/main" noGrp="1"/>
          </p:cNvSpPr>
          <p:nvPr/>
        </p:nvSpPr>
        <p:spPr>
          <a:xfrm xmlns:a="http://schemas.openxmlformats.org/drawingml/2006/main">
            <a:off x="685800" y="43529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Small bias or growing correlation</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can make the stream more predictable.</a:t>
            </a:r>
          </a:p>
        </p:txBody>
      </p:sp>
      <p:sp>
        <p:nvSpPr>
          <p:cNvPr id="9" name="">
            <a:extLst xmlns:a="http://schemas.openxmlformats.org/drawingml/2006/main">
              <a:ext uri="{FF2B5EF4-FFF2-40B4-BE49-F238E27FC236}">
                <a16:creationId xmlns:a16="http://schemas.microsoft.com/office/drawing/2014/main" id="{B134A8D7-28C5-4A4F-B708-21586247F0E2}"/>
              </a:ext>
            </a:extLst>
          </p:cNvPr>
          <p:cNvSpPr>
            <a:spLocks xmlns:a="http://schemas.openxmlformats.org/drawingml/2006/main" noGrp="1"/>
          </p:cNvSpPr>
          <p:nvPr/>
        </p:nvSpPr>
        <p:spPr>
          <a:xfrm xmlns:a="http://schemas.openxmlformats.org/drawingml/2006/main">
            <a:off x="6524625" y="378142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Engineers need the full story</a:t>
            </a:r>
          </a:p>
        </p:txBody>
      </p:sp>
      <p:sp>
        <p:nvSpPr>
          <p:cNvPr id="10" name="">
            <a:extLst xmlns:a="http://schemas.openxmlformats.org/drawingml/2006/main">
              <a:ext uri="{FF2B5EF4-FFF2-40B4-BE49-F238E27FC236}">
                <a16:creationId xmlns:a16="http://schemas.microsoft.com/office/drawing/2014/main" id="{1C261A07-7955-48F7-A0F4-86CDE1D8DBE6}"/>
              </a:ext>
            </a:extLst>
          </p:cNvPr>
          <p:cNvSpPr>
            <a:spLocks xmlns:a="http://schemas.openxmlformats.org/drawingml/2006/main" noGrp="1"/>
          </p:cNvSpPr>
          <p:nvPr/>
        </p:nvSpPr>
        <p:spPr>
          <a:xfrm xmlns:a="http://schemas.openxmlformats.org/drawingml/2006/main">
            <a:off x="6524625" y="435292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When did it start? What changed?</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How serious is it? What comes next?</a:t>
            </a:r>
          </a:p>
        </p:txBody>
      </p:sp>
      <p:sp>
        <p:nvSpPr>
          <p:cNvPr id="11" name="">
            <a:extLst xmlns:a="http://schemas.openxmlformats.org/drawingml/2006/main">
              <a:ext uri="{FF2B5EF4-FFF2-40B4-BE49-F238E27FC236}">
                <a16:creationId xmlns:a16="http://schemas.microsoft.com/office/drawing/2014/main" id="{A46605CE-9108-49C3-8E22-8C4D61FCE7AC}"/>
              </a:ext>
            </a:extLst>
          </p:cNvPr>
          <p:cNvSpPr>
            <a:spLocks xmlns:a="http://schemas.openxmlformats.org/drawingml/2006/main" noGrp="1"/>
          </p:cNvSpPr>
          <p:nvPr/>
        </p:nvSpPr>
        <p:spPr>
          <a:xfrm xmlns:a="http://schemas.openxmlformats.org/drawingml/2006/main">
            <a:off x="685800" y="56864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8BC"/>
                </a:solidFill>
                <a:latin typeface="Arial"/>
                <a:ea typeface="Arial"/>
                <a:cs typeface="Arial"/>
              </a:defRPr>
            </a:pPr>
            <a:r>
              <a:rPr sz="2025" b="1">
                <a:solidFill>
                  <a:srgbClr val="2878BC"/>
                </a:solidFill>
                <a:latin typeface="Arial"/>
                <a:ea typeface="Arial"/>
                <a:cs typeface="Arial"/>
              </a:rPr>
              <a:t>Our goal: detect and explain changes as early as the evidence supports.</a:t>
            </a:r>
          </a:p>
        </p:txBody>
      </p:sp>
    </p:spTree>
    <p:extLst>
      <p:ext uri="{BB962C8B-B14F-4D97-AF65-F5344CB8AC3E}">
        <p14:creationId xmlns:p14="http://schemas.microsoft.com/office/powerpoint/2010/main" val="182118002"/>
      </p:ext>
    </p:extLst>
  </p:cSld>
</p:sld>
</file>

<file path=ppt/slides/slide2.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6A33500-FC76-424C-94CB-0F3308C81E64}"/>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PROPOSED SOLUTION</a:t>
            </a:r>
          </a:p>
        </p:txBody>
      </p:sp>
      <p:sp>
        <p:nvSpPr>
          <p:cNvPr id="2" name="">
            <a:extLst xmlns:a="http://schemas.openxmlformats.org/drawingml/2006/main">
              <a:ext uri="{FF2B5EF4-FFF2-40B4-BE49-F238E27FC236}">
                <a16:creationId xmlns:a16="http://schemas.microsoft.com/office/drawing/2014/main" id="{480C787D-BBD3-4272-871E-02468A833549}"/>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Q-Sentinel: continuous reliability monitoring</a:t>
            </a:r>
          </a:p>
        </p:txBody>
      </p:sp>
      <p:sp>
        <p:nvSpPr>
          <p:cNvPr id="3" name="">
            <a:extLst xmlns:a="http://schemas.openxmlformats.org/drawingml/2006/main">
              <a:ext uri="{FF2B5EF4-FFF2-40B4-BE49-F238E27FC236}">
                <a16:creationId xmlns:a16="http://schemas.microsoft.com/office/drawing/2014/main" id="{6407ACB8-0AEC-41E5-AD17-D1C2D6EE0271}"/>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2DC7D022-05F4-43F8-8B44-0F4FBCC9A4D0}"/>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27CD1CF4-3883-4CEF-9A25-8AC55B2430A6}"/>
              </a:ext>
            </a:extLst>
          </p:cNvPr>
          <p:cNvSpPr>
            <a:spLocks xmlns:a="http://schemas.openxmlformats.org/drawingml/2006/main" noGrp="1"/>
          </p:cNvSpPr>
          <p:nvPr/>
        </p:nvSpPr>
        <p:spPr>
          <a:xfrm xmlns:a="http://schemas.openxmlformats.org/drawingml/2006/main">
            <a:off x="685800" y="1819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8BC"/>
                </a:solidFill>
                <a:latin typeface="Arial"/>
                <a:ea typeface="Arial"/>
                <a:cs typeface="Arial"/>
              </a:defRPr>
            </a:pPr>
            <a:r>
              <a:rPr sz="2250" b="1">
                <a:solidFill>
                  <a:srgbClr val="2878BC"/>
                </a:solidFill>
                <a:latin typeface="Arial"/>
                <a:ea typeface="Arial"/>
                <a:cs typeface="Arial"/>
              </a:rPr>
              <a:t>The stream becomes a timeline of evidence.</a:t>
            </a:r>
          </a:p>
        </p:txBody>
      </p:sp>
      <p:sp>
        <p:nvSpPr>
          <p:cNvPr id="6" name="">
            <a:extLst xmlns:a="http://schemas.openxmlformats.org/drawingml/2006/main">
              <a:ext uri="{FF2B5EF4-FFF2-40B4-BE49-F238E27FC236}">
                <a16:creationId xmlns:a16="http://schemas.microsoft.com/office/drawing/2014/main" id="{6DC611A7-8FF5-4E1B-A7B7-1A3758CB4577}"/>
              </a:ext>
            </a:extLst>
          </p:cNvPr>
          <p:cNvSpPr>
            <a:spLocks xmlns:a="http://schemas.openxmlformats.org/drawingml/2006/main" noGrp="1"/>
          </p:cNvSpPr>
          <p:nvPr/>
        </p:nvSpPr>
        <p:spPr>
          <a:xfrm xmlns:a="http://schemas.openxmlformats.org/drawingml/2006/main">
            <a:off x="685800" y="25527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BE90719-E393-44D6-8E50-162B349541CC}"/>
              </a:ext>
            </a:extLst>
          </p:cNvPr>
          <p:cNvSpPr>
            <a:spLocks xmlns:a="http://schemas.openxmlformats.org/drawingml/2006/main" noGrp="1"/>
          </p:cNvSpPr>
          <p:nvPr/>
        </p:nvSpPr>
        <p:spPr>
          <a:xfrm xmlns:a="http://schemas.openxmlformats.org/drawingml/2006/main">
            <a:off x="1562100" y="2552700"/>
            <a:ext cx="366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54653"/>
                </a:solidFill>
                <a:latin typeface="Arial"/>
                <a:ea typeface="Arial"/>
                <a:cs typeface="Arial"/>
              </a:defRPr>
            </a:pPr>
            <a:r>
              <a:rPr sz="2175" b="1">
                <a:solidFill>
                  <a:srgbClr val="354653"/>
                </a:solidFill>
                <a:latin typeface="Arial"/>
                <a:ea typeface="Arial"/>
                <a:cs typeface="Arial"/>
              </a:rPr>
              <a:t>Receive &amp; check</a:t>
            </a:r>
          </a:p>
        </p:txBody>
      </p:sp>
      <p:sp>
        <p:nvSpPr>
          <p:cNvPr id="8" name="">
            <a:extLst xmlns:a="http://schemas.openxmlformats.org/drawingml/2006/main">
              <a:ext uri="{FF2B5EF4-FFF2-40B4-BE49-F238E27FC236}">
                <a16:creationId xmlns:a16="http://schemas.microsoft.com/office/drawing/2014/main" id="{4E6DDAA9-8A5F-4670-B72F-23DDC1C1616D}"/>
              </a:ext>
            </a:extLst>
          </p:cNvPr>
          <p:cNvSpPr>
            <a:spLocks xmlns:a="http://schemas.openxmlformats.org/drawingml/2006/main" noGrp="1"/>
          </p:cNvSpPr>
          <p:nvPr/>
        </p:nvSpPr>
        <p:spPr>
          <a:xfrm xmlns:a="http://schemas.openxmlformats.org/drawingml/2006/main">
            <a:off x="5286375" y="25527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Validate input and divide it into windows.</a:t>
            </a:r>
          </a:p>
        </p:txBody>
      </p:sp>
      <p:sp>
        <p:nvSpPr>
          <p:cNvPr id="9" name="">
            <a:extLst xmlns:a="http://schemas.openxmlformats.org/drawingml/2006/main">
              <a:ext uri="{FF2B5EF4-FFF2-40B4-BE49-F238E27FC236}">
                <a16:creationId xmlns:a16="http://schemas.microsoft.com/office/drawing/2014/main" id="{F6B58331-3EAF-436F-9E16-270B444506E9}"/>
              </a:ext>
            </a:extLst>
          </p:cNvPr>
          <p:cNvSpPr>
            <a:spLocks xmlns:a="http://schemas.openxmlformats.org/drawingml/2006/main" noGrp="1"/>
          </p:cNvSpPr>
          <p:nvPr/>
        </p:nvSpPr>
        <p:spPr>
          <a:xfrm xmlns:a="http://schemas.openxmlformats.org/drawingml/2006/main">
            <a:off x="685800" y="32956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A125882-D77B-4655-BFBA-18899E4A7DAA}"/>
              </a:ext>
            </a:extLst>
          </p:cNvPr>
          <p:cNvSpPr>
            <a:spLocks xmlns:a="http://schemas.openxmlformats.org/drawingml/2006/main" noGrp="1"/>
          </p:cNvSpPr>
          <p:nvPr/>
        </p:nvSpPr>
        <p:spPr>
          <a:xfrm xmlns:a="http://schemas.openxmlformats.org/drawingml/2006/main">
            <a:off x="1562100" y="3295650"/>
            <a:ext cx="366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54653"/>
                </a:solidFill>
                <a:latin typeface="Arial"/>
                <a:ea typeface="Arial"/>
                <a:cs typeface="Arial"/>
              </a:defRPr>
            </a:pPr>
            <a:r>
              <a:rPr sz="2175" b="1">
                <a:solidFill>
                  <a:srgbClr val="354653"/>
                </a:solidFill>
                <a:latin typeface="Arial"/>
                <a:ea typeface="Arial"/>
                <a:cs typeface="Arial"/>
              </a:rPr>
              <a:t>Measure &amp; compare</a:t>
            </a:r>
          </a:p>
        </p:txBody>
      </p:sp>
      <p:sp>
        <p:nvSpPr>
          <p:cNvPr id="11" name="">
            <a:extLst xmlns:a="http://schemas.openxmlformats.org/drawingml/2006/main">
              <a:ext uri="{FF2B5EF4-FFF2-40B4-BE49-F238E27FC236}">
                <a16:creationId xmlns:a16="http://schemas.microsoft.com/office/drawing/2014/main" id="{EF4BCC09-BE61-40B3-9523-48243C3C732D}"/>
              </a:ext>
            </a:extLst>
          </p:cNvPr>
          <p:cNvSpPr>
            <a:spLocks xmlns:a="http://schemas.openxmlformats.org/drawingml/2006/main" noGrp="1"/>
          </p:cNvSpPr>
          <p:nvPr/>
        </p:nvSpPr>
        <p:spPr>
          <a:xfrm xmlns:a="http://schemas.openxmlformats.org/drawingml/2006/main">
            <a:off x="5286375" y="32956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Track entropy, bias and patterns against a reference.</a:t>
            </a:r>
          </a:p>
        </p:txBody>
      </p:sp>
      <p:sp>
        <p:nvSpPr>
          <p:cNvPr id="12" name="">
            <a:extLst xmlns:a="http://schemas.openxmlformats.org/drawingml/2006/main">
              <a:ext uri="{FF2B5EF4-FFF2-40B4-BE49-F238E27FC236}">
                <a16:creationId xmlns:a16="http://schemas.microsoft.com/office/drawing/2014/main" id="{B7B47C39-A6D0-40E5-8EF3-2D6133945C3B}"/>
              </a:ext>
            </a:extLst>
          </p:cNvPr>
          <p:cNvSpPr>
            <a:spLocks xmlns:a="http://schemas.openxmlformats.org/drawingml/2006/main" noGrp="1"/>
          </p:cNvSpPr>
          <p:nvPr/>
        </p:nvSpPr>
        <p:spPr>
          <a:xfrm xmlns:a="http://schemas.openxmlformats.org/drawingml/2006/main">
            <a:off x="685800" y="40386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9E6B1336-5296-4538-832C-51C403DB1A5B}"/>
              </a:ext>
            </a:extLst>
          </p:cNvPr>
          <p:cNvSpPr>
            <a:spLocks xmlns:a="http://schemas.openxmlformats.org/drawingml/2006/main" noGrp="1"/>
          </p:cNvSpPr>
          <p:nvPr/>
        </p:nvSpPr>
        <p:spPr>
          <a:xfrm xmlns:a="http://schemas.openxmlformats.org/drawingml/2006/main">
            <a:off x="1562100" y="4038600"/>
            <a:ext cx="366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54653"/>
                </a:solidFill>
                <a:latin typeface="Arial"/>
                <a:ea typeface="Arial"/>
                <a:cs typeface="Arial"/>
              </a:defRPr>
            </a:pPr>
            <a:r>
              <a:rPr sz="2175" b="1">
                <a:solidFill>
                  <a:srgbClr val="354653"/>
                </a:solidFill>
                <a:latin typeface="Arial"/>
                <a:ea typeface="Arial"/>
                <a:cs typeface="Arial"/>
              </a:rPr>
              <a:t>Detect &amp; explain</a:t>
            </a:r>
          </a:p>
        </p:txBody>
      </p:sp>
      <p:sp>
        <p:nvSpPr>
          <p:cNvPr id="14" name="">
            <a:extLst xmlns:a="http://schemas.openxmlformats.org/drawingml/2006/main">
              <a:ext uri="{FF2B5EF4-FFF2-40B4-BE49-F238E27FC236}">
                <a16:creationId xmlns:a16="http://schemas.microsoft.com/office/drawing/2014/main" id="{419BC719-547A-4CF8-BE34-6DDAE9CFBBDD}"/>
              </a:ext>
            </a:extLst>
          </p:cNvPr>
          <p:cNvSpPr>
            <a:spLocks xmlns:a="http://schemas.openxmlformats.org/drawingml/2006/main" noGrp="1"/>
          </p:cNvSpPr>
          <p:nvPr/>
        </p:nvSpPr>
        <p:spPr>
          <a:xfrm xmlns:a="http://schemas.openxmlformats.org/drawingml/2006/main">
            <a:off x="5286375" y="403860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Flag persistent changes and identify statistical signatures.</a:t>
            </a:r>
          </a:p>
        </p:txBody>
      </p:sp>
      <p:sp>
        <p:nvSpPr>
          <p:cNvPr id="15" name="">
            <a:extLst xmlns:a="http://schemas.openxmlformats.org/drawingml/2006/main">
              <a:ext uri="{FF2B5EF4-FFF2-40B4-BE49-F238E27FC236}">
                <a16:creationId xmlns:a16="http://schemas.microsoft.com/office/drawing/2014/main" id="{C97BD0E5-630C-418D-BF5F-C71040B50F50}"/>
              </a:ext>
            </a:extLst>
          </p:cNvPr>
          <p:cNvSpPr>
            <a:spLocks xmlns:a="http://schemas.openxmlformats.org/drawingml/2006/main" noGrp="1"/>
          </p:cNvSpPr>
          <p:nvPr/>
        </p:nvSpPr>
        <p:spPr>
          <a:xfrm xmlns:a="http://schemas.openxmlformats.org/drawingml/2006/main">
            <a:off x="685800" y="47815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878BC"/>
                </a:solidFill>
                <a:latin typeface="Arial"/>
                <a:ea typeface="Arial"/>
                <a:cs typeface="Arial"/>
              </a:defRPr>
            </a:pPr>
            <a:r>
              <a:rPr sz="2325" b="1">
                <a:solidFill>
                  <a:srgbClr val="2878BC"/>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2D263AFF-2E04-49B8-A85E-34EB2A184735}"/>
              </a:ext>
            </a:extLst>
          </p:cNvPr>
          <p:cNvSpPr>
            <a:spLocks xmlns:a="http://schemas.openxmlformats.org/drawingml/2006/main" noGrp="1"/>
          </p:cNvSpPr>
          <p:nvPr/>
        </p:nvSpPr>
        <p:spPr>
          <a:xfrm xmlns:a="http://schemas.openxmlformats.org/drawingml/2006/main">
            <a:off x="1562100" y="4781550"/>
            <a:ext cx="366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54653"/>
                </a:solidFill>
                <a:latin typeface="Arial"/>
                <a:ea typeface="Arial"/>
                <a:cs typeface="Arial"/>
              </a:defRPr>
            </a:pPr>
            <a:r>
              <a:rPr sz="2175" b="1">
                <a:solidFill>
                  <a:srgbClr val="354653"/>
                </a:solidFill>
                <a:latin typeface="Arial"/>
                <a:ea typeface="Arial"/>
                <a:cs typeface="Arial"/>
              </a:rPr>
              <a:t>Recommend &amp; record</a:t>
            </a:r>
          </a:p>
        </p:txBody>
      </p:sp>
      <p:sp>
        <p:nvSpPr>
          <p:cNvPr id="17" name="">
            <a:extLst xmlns:a="http://schemas.openxmlformats.org/drawingml/2006/main">
              <a:ext uri="{FF2B5EF4-FFF2-40B4-BE49-F238E27FC236}">
                <a16:creationId xmlns:a16="http://schemas.microsoft.com/office/drawing/2014/main" id="{83B64F54-4299-4298-B010-2F12213B8EE6}"/>
              </a:ext>
            </a:extLst>
          </p:cNvPr>
          <p:cNvSpPr>
            <a:spLocks xmlns:a="http://schemas.openxmlformats.org/drawingml/2006/main" noGrp="1"/>
          </p:cNvSpPr>
          <p:nvPr/>
        </p:nvSpPr>
        <p:spPr>
          <a:xfrm xmlns:a="http://schemas.openxmlformats.org/drawingml/2006/main">
            <a:off x="5286375" y="47815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Suggest investigation steps and save a health passport.</a:t>
            </a:r>
          </a:p>
        </p:txBody>
      </p:sp>
      <p:sp>
        <p:nvSpPr>
          <p:cNvPr id="18" name="">
            <a:extLst xmlns:a="http://schemas.openxmlformats.org/drawingml/2006/main">
              <a:ext uri="{FF2B5EF4-FFF2-40B4-BE49-F238E27FC236}">
                <a16:creationId xmlns:a16="http://schemas.microsoft.com/office/drawing/2014/main" id="{8360ADB1-90A9-4AA8-ACB1-A2AF0ED9C45E}"/>
              </a:ext>
            </a:extLst>
          </p:cNvPr>
          <p:cNvSpPr>
            <a:spLocks xmlns:a="http://schemas.openxmlformats.org/drawingml/2006/main" noGrp="1"/>
          </p:cNvSpPr>
          <p:nvPr/>
        </p:nvSpPr>
        <p:spPr>
          <a:xfrm xmlns:a="http://schemas.openxmlformats.org/drawingml/2006/main">
            <a:off x="685800" y="5753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8579"/>
                </a:solidFill>
                <a:latin typeface="Arial"/>
                <a:ea typeface="Arial"/>
                <a:cs typeface="Arial"/>
              </a:defRPr>
            </a:pPr>
            <a:r>
              <a:rPr sz="2100" b="1">
                <a:solidFill>
                  <a:srgbClr val="248579"/>
                </a:solidFill>
                <a:latin typeface="Arial"/>
                <a:ea typeface="Arial"/>
                <a:cs typeface="Arial"/>
              </a:rPr>
              <a:t>Healthy     →     Early Warning     →     Degraded     →     Critical</a:t>
            </a:r>
          </a:p>
        </p:txBody>
      </p:sp>
    </p:spTree>
    <p:extLst>
      <p:ext uri="{BB962C8B-B14F-4D97-AF65-F5344CB8AC3E}">
        <p14:creationId xmlns:p14="http://schemas.microsoft.com/office/powerpoint/2010/main" val="20813490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4EEABA-F16D-4D6F-AEC0-5586B72A212C}"/>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181C0183-F87B-4F80-96FC-580CEC47F266}"/>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Small windows reveal how behavior changes</a:t>
            </a:r>
          </a:p>
        </p:txBody>
      </p:sp>
      <p:sp>
        <p:nvSpPr>
          <p:cNvPr id="3" name="">
            <a:extLst xmlns:a="http://schemas.openxmlformats.org/drawingml/2006/main">
              <a:ext uri="{FF2B5EF4-FFF2-40B4-BE49-F238E27FC236}">
                <a16:creationId xmlns:a16="http://schemas.microsoft.com/office/drawing/2014/main" id="{B667FE8A-511B-404B-9CD4-74A4B92294A5}"/>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53D06788-B73C-40C2-BA78-27EDEA492989}"/>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488131C-2D52-4B85-9A04-6B2C9096D5A8}"/>
              </a:ext>
            </a:extLst>
          </p:cNvPr>
          <p:cNvSpPr>
            <a:spLocks xmlns:a="http://schemas.openxmlformats.org/drawingml/2006/main" noGrp="1"/>
          </p:cNvSpPr>
          <p:nvPr/>
        </p:nvSpPr>
        <p:spPr>
          <a:xfrm xmlns:a="http://schemas.openxmlformats.org/drawingml/2006/main">
            <a:off x="685800" y="18002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878BC"/>
                </a:solidFill>
                <a:latin typeface="Arial"/>
                <a:ea typeface="Arial"/>
                <a:cs typeface="Arial"/>
              </a:defRPr>
            </a:pPr>
            <a:r>
              <a:rPr sz="2475" b="1">
                <a:solidFill>
                  <a:srgbClr val="2878BC"/>
                </a:solidFill>
                <a:latin typeface="Arial"/>
                <a:ea typeface="Arial"/>
                <a:cs typeface="Arial"/>
              </a:rPr>
              <a:t>1,000,000 bits  →  100 windows of 10,000 bits</a:t>
            </a:r>
          </a:p>
        </p:txBody>
      </p:sp>
      <p:sp>
        <p:nvSpPr>
          <p:cNvPr id="6" name="">
            <a:extLst xmlns:a="http://schemas.openxmlformats.org/drawingml/2006/main">
              <a:ext uri="{FF2B5EF4-FFF2-40B4-BE49-F238E27FC236}">
                <a16:creationId xmlns:a16="http://schemas.microsoft.com/office/drawing/2014/main" id="{10ECA64C-B948-4F05-9333-445436225AF7}"/>
              </a:ext>
            </a:extLst>
          </p:cNvPr>
          <p:cNvSpPr>
            <a:spLocks xmlns:a="http://schemas.openxmlformats.org/drawingml/2006/main" noGrp="1"/>
          </p:cNvSpPr>
          <p:nvPr/>
        </p:nvSpPr>
        <p:spPr>
          <a:xfrm xmlns:a="http://schemas.openxmlformats.org/drawingml/2006/main">
            <a:off x="685800" y="26860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Measure</a:t>
            </a:r>
          </a:p>
        </p:txBody>
      </p:sp>
      <p:sp>
        <p:nvSpPr>
          <p:cNvPr id="7" name="">
            <a:extLst xmlns:a="http://schemas.openxmlformats.org/drawingml/2006/main">
              <a:ext uri="{FF2B5EF4-FFF2-40B4-BE49-F238E27FC236}">
                <a16:creationId xmlns:a16="http://schemas.microsoft.com/office/drawing/2014/main" id="{92FB6158-77FE-4C88-B06D-14CA5E2EC2BF}"/>
              </a:ext>
            </a:extLst>
          </p:cNvPr>
          <p:cNvSpPr>
            <a:spLocks xmlns:a="http://schemas.openxmlformats.org/drawingml/2006/main" noGrp="1"/>
          </p:cNvSpPr>
          <p:nvPr/>
        </p:nvSpPr>
        <p:spPr>
          <a:xfrm xmlns:a="http://schemas.openxmlformats.org/drawingml/2006/main">
            <a:off x="685800" y="3257550"/>
            <a:ext cx="32861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Entropy: uncertainty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Min entropy: dominant bit</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Bias: zero/one balance</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Correlation: dependence</a:t>
            </a:r>
          </a:p>
        </p:txBody>
      </p:sp>
      <p:sp>
        <p:nvSpPr>
          <p:cNvPr id="8" name="">
            <a:extLst xmlns:a="http://schemas.openxmlformats.org/drawingml/2006/main">
              <a:ext uri="{FF2B5EF4-FFF2-40B4-BE49-F238E27FC236}">
                <a16:creationId xmlns:a16="http://schemas.microsoft.com/office/drawing/2014/main" id="{371071DC-B601-4E91-9705-1D82CF5F92AC}"/>
              </a:ext>
            </a:extLst>
          </p:cNvPr>
          <p:cNvSpPr>
            <a:spLocks xmlns:a="http://schemas.openxmlformats.org/drawingml/2006/main" noGrp="1"/>
          </p:cNvSpPr>
          <p:nvPr/>
        </p:nvSpPr>
        <p:spPr>
          <a:xfrm xmlns:a="http://schemas.openxmlformats.org/drawingml/2006/main">
            <a:off x="4381500" y="26860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Test</a:t>
            </a:r>
          </a:p>
        </p:txBody>
      </p:sp>
      <p:sp>
        <p:nvSpPr>
          <p:cNvPr id="9" name="">
            <a:extLst xmlns:a="http://schemas.openxmlformats.org/drawingml/2006/main">
              <a:ext uri="{FF2B5EF4-FFF2-40B4-BE49-F238E27FC236}">
                <a16:creationId xmlns:a16="http://schemas.microsoft.com/office/drawing/2014/main" id="{B02103D5-695E-4EE2-AA7D-C75FBF08EBBE}"/>
              </a:ext>
            </a:extLst>
          </p:cNvPr>
          <p:cNvSpPr>
            <a:spLocks xmlns:a="http://schemas.openxmlformats.org/drawingml/2006/main" noGrp="1"/>
          </p:cNvSpPr>
          <p:nvPr/>
        </p:nvSpPr>
        <p:spPr>
          <a:xfrm xmlns:a="http://schemas.openxmlformats.org/drawingml/2006/main">
            <a:off x="4381500" y="3257550"/>
            <a:ext cx="3476625"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Six NIST test families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Frequency / Block Frequency</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Runs / Longest Run</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DFT / Cumulative Sums</a:t>
            </a:r>
          </a:p>
        </p:txBody>
      </p:sp>
      <p:sp>
        <p:nvSpPr>
          <p:cNvPr id="10" name="">
            <a:extLst xmlns:a="http://schemas.openxmlformats.org/drawingml/2006/main">
              <a:ext uri="{FF2B5EF4-FFF2-40B4-BE49-F238E27FC236}">
                <a16:creationId xmlns:a16="http://schemas.microsoft.com/office/drawing/2014/main" id="{5D017CC3-EA0E-4E69-BBD8-5CE4CC9CB75D}"/>
              </a:ext>
            </a:extLst>
          </p:cNvPr>
          <p:cNvSpPr>
            <a:spLocks xmlns:a="http://schemas.openxmlformats.org/drawingml/2006/main" noGrp="1"/>
          </p:cNvSpPr>
          <p:nvPr/>
        </p:nvSpPr>
        <p:spPr>
          <a:xfrm xmlns:a="http://schemas.openxmlformats.org/drawingml/2006/main">
            <a:off x="8410575" y="26860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Detect</a:t>
            </a:r>
          </a:p>
        </p:txBody>
      </p:sp>
      <p:sp>
        <p:nvSpPr>
          <p:cNvPr id="11" name="">
            <a:extLst xmlns:a="http://schemas.openxmlformats.org/drawingml/2006/main">
              <a:ext uri="{FF2B5EF4-FFF2-40B4-BE49-F238E27FC236}">
                <a16:creationId xmlns:a16="http://schemas.microsoft.com/office/drawing/2014/main" id="{D7FD5A0E-E9AD-445F-8AAD-3AD0A5A94026}"/>
              </a:ext>
            </a:extLst>
          </p:cNvPr>
          <p:cNvSpPr>
            <a:spLocks xmlns:a="http://schemas.openxmlformats.org/drawingml/2006/main" noGrp="1"/>
          </p:cNvSpPr>
          <p:nvPr/>
        </p:nvSpPr>
        <p:spPr>
          <a:xfrm xmlns:a="http://schemas.openxmlformats.org/drawingml/2006/main">
            <a:off x="8410575" y="3257550"/>
            <a:ext cx="3143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CUSUM accumulates</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changes from the baseline.</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Persistent evidence</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triggers an alert.</a:t>
            </a:r>
          </a:p>
        </p:txBody>
      </p:sp>
      <p:sp>
        <p:nvSpPr>
          <p:cNvPr id="12" name="">
            <a:extLst xmlns:a="http://schemas.openxmlformats.org/drawingml/2006/main">
              <a:ext uri="{FF2B5EF4-FFF2-40B4-BE49-F238E27FC236}">
                <a16:creationId xmlns:a16="http://schemas.microsoft.com/office/drawing/2014/main" id="{385670AC-48CC-4630-9C6E-ED8E7CB22963}"/>
              </a:ext>
            </a:extLst>
          </p:cNvPr>
          <p:cNvSpPr>
            <a:spLocks xmlns:a="http://schemas.openxmlformats.org/drawingml/2006/main" noGrp="1"/>
          </p:cNvSpPr>
          <p:nvPr/>
        </p:nvSpPr>
        <p:spPr>
          <a:xfrm xmlns:a="http://schemas.openxmlformats.org/drawingml/2006/main">
            <a:off x="685800" y="52768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8BC"/>
                </a:solidFill>
                <a:latin typeface="Arial"/>
                <a:ea typeface="Arial"/>
                <a:cs typeface="Arial"/>
              </a:defRPr>
            </a:pPr>
            <a:r>
              <a:rPr sz="1725" b="1">
                <a:solidFill>
                  <a:srgbClr val="2878BC"/>
                </a:solidFill>
                <a:latin typeface="Arial"/>
                <a:ea typeface="Arial"/>
                <a:cs typeface="Arial"/>
              </a:rPr>
              <a:t>Working prototype: Python, Streamlit, NumPy, Pandas, SciPy, Plotly and SQLite.</a:t>
            </a:r>
          </a:p>
        </p:txBody>
      </p:sp>
      <p:sp>
        <p:nvSpPr>
          <p:cNvPr id="13" name="">
            <a:extLst xmlns:a="http://schemas.openxmlformats.org/drawingml/2006/main">
              <a:ext uri="{FF2B5EF4-FFF2-40B4-BE49-F238E27FC236}">
                <a16:creationId xmlns:a16="http://schemas.microsoft.com/office/drawing/2014/main" id="{7EB9CA8C-CEEB-4FCC-B66C-356132495FBD}"/>
              </a:ext>
            </a:extLst>
          </p:cNvPr>
          <p:cNvSpPr>
            <a:spLocks xmlns:a="http://schemas.openxmlformats.org/drawingml/2006/main" noGrp="1"/>
          </p:cNvSpPr>
          <p:nvPr/>
        </p:nvSpPr>
        <p:spPr>
          <a:xfrm xmlns:a="http://schemas.openxmlformats.org/drawingml/2006/main">
            <a:off x="685800" y="57340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8"/>
                </a:solidFill>
                <a:latin typeface="Arial"/>
                <a:ea typeface="Arial"/>
                <a:cs typeface="Arial"/>
              </a:defRPr>
            </a:pPr>
            <a:r>
              <a:rPr sz="1725" b="0">
                <a:solidFill>
                  <a:srgbClr val="6C7D88"/>
                </a:solidFill>
                <a:latin typeface="Arial"/>
                <a:ea typeface="Arial"/>
                <a:cs typeface="Arial"/>
              </a:rPr>
              <a:t>Q-Advisor uses explainable rules. No trained AI model or paid API is required.</a:t>
            </a:r>
          </a:p>
        </p:txBody>
      </p:sp>
    </p:spTree>
    <p:extLst>
      <p:ext uri="{BB962C8B-B14F-4D97-AF65-F5344CB8AC3E}">
        <p14:creationId xmlns:p14="http://schemas.microsoft.com/office/powerpoint/2010/main" val="1636869421"/>
      </p:ext>
    </p:extLst>
  </p:cSld>
</p:sld>
</file>

<file path=ppt/slides/slide4.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E9CE23C-72D9-4455-A34E-2DA6EF77E094}"/>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FEASIBILITY &amp; VIABILITY</a:t>
            </a:r>
          </a:p>
        </p:txBody>
      </p:sp>
      <p:sp>
        <p:nvSpPr>
          <p:cNvPr id="2" name="">
            <a:extLst xmlns:a="http://schemas.openxmlformats.org/drawingml/2006/main">
              <a:ext uri="{FF2B5EF4-FFF2-40B4-BE49-F238E27FC236}">
                <a16:creationId xmlns:a16="http://schemas.microsoft.com/office/drawing/2014/main" id="{BDF834B7-E10A-422A-B3B9-B865FB33EA6E}"/>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prototype we can test without quantum hardware</a:t>
            </a:r>
          </a:p>
        </p:txBody>
      </p:sp>
      <p:sp>
        <p:nvSpPr>
          <p:cNvPr id="3" name="">
            <a:extLst xmlns:a="http://schemas.openxmlformats.org/drawingml/2006/main">
              <a:ext uri="{FF2B5EF4-FFF2-40B4-BE49-F238E27FC236}">
                <a16:creationId xmlns:a16="http://schemas.microsoft.com/office/drawing/2014/main" id="{559F1FC2-9231-440F-8A3D-AD375BA309AC}"/>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F0446DE7-758A-441C-82EC-CB4C6D15A7C6}"/>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6692011-FD20-463D-B57B-E2E165E43C72}"/>
              </a:ext>
            </a:extLst>
          </p:cNvPr>
          <p:cNvSpPr>
            <a:spLocks xmlns:a="http://schemas.openxmlformats.org/drawingml/2006/main" noGrp="1"/>
          </p:cNvSpPr>
          <p:nvPr/>
        </p:nvSpPr>
        <p:spPr>
          <a:xfrm xmlns:a="http://schemas.openxmlformats.org/drawingml/2006/main">
            <a:off x="685800" y="1876425"/>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8579"/>
                </a:solidFill>
                <a:latin typeface="Arial"/>
                <a:ea typeface="Arial"/>
                <a:cs typeface="Arial"/>
              </a:defRPr>
            </a:pPr>
            <a:r>
              <a:rPr sz="2250" b="1">
                <a:solidFill>
                  <a:srgbClr val="248579"/>
                </a:solidFill>
                <a:latin typeface="Arial"/>
                <a:ea typeface="Arial"/>
                <a:cs typeface="Arial"/>
              </a:rPr>
              <a:t>Failure Lab</a:t>
            </a:r>
          </a:p>
        </p:txBody>
      </p:sp>
      <p:sp>
        <p:nvSpPr>
          <p:cNvPr id="6" name="">
            <a:extLst xmlns:a="http://schemas.openxmlformats.org/drawingml/2006/main">
              <a:ext uri="{FF2B5EF4-FFF2-40B4-BE49-F238E27FC236}">
                <a16:creationId xmlns:a16="http://schemas.microsoft.com/office/drawing/2014/main" id="{AC055DBE-8B4D-47AF-9639-21C317F62FD7}"/>
              </a:ext>
            </a:extLst>
          </p:cNvPr>
          <p:cNvSpPr>
            <a:spLocks xmlns:a="http://schemas.openxmlformats.org/drawingml/2006/main" noGrp="1"/>
          </p:cNvSpPr>
          <p:nvPr/>
        </p:nvSpPr>
        <p:spPr>
          <a:xfrm xmlns:a="http://schemas.openxmlformats.org/drawingml/2006/main">
            <a:off x="685800" y="2447925"/>
            <a:ext cx="5095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Inject bias, correlation, periodicity,</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repetition, bursts, gradual drift</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or sudden collapse.</a:t>
            </a:r>
          </a:p>
        </p:txBody>
      </p:sp>
      <p:sp>
        <p:nvSpPr>
          <p:cNvPr id="7" name="">
            <a:extLst xmlns:a="http://schemas.openxmlformats.org/drawingml/2006/main">
              <a:ext uri="{FF2B5EF4-FFF2-40B4-BE49-F238E27FC236}">
                <a16:creationId xmlns:a16="http://schemas.microsoft.com/office/drawing/2014/main" id="{96442AF0-8C8D-4AFE-8A95-E050EB95AE76}"/>
              </a:ext>
            </a:extLst>
          </p:cNvPr>
          <p:cNvSpPr>
            <a:spLocks xmlns:a="http://schemas.openxmlformats.org/drawingml/2006/main" noGrp="1"/>
          </p:cNvSpPr>
          <p:nvPr/>
        </p:nvSpPr>
        <p:spPr>
          <a:xfrm xmlns:a="http://schemas.openxmlformats.org/drawingml/2006/main">
            <a:off x="685800" y="3924300"/>
            <a:ext cx="50958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8BC"/>
                </a:solidFill>
                <a:latin typeface="Arial"/>
                <a:ea typeface="Arial"/>
                <a:cs typeface="Arial"/>
              </a:defRPr>
            </a:pPr>
            <a:r>
              <a:rPr sz="2025" b="1">
                <a:solidFill>
                  <a:srgbClr val="2878BC"/>
                </a:solidFill>
                <a:latin typeface="Arial"/>
                <a:ea typeface="Arial"/>
                <a:cs typeface="Arial"/>
              </a:rPr>
              <a:t>Healthy simulation → Inject a fault</a:t>
            </a:r>
          </a:p>
          <a:p xmlns:a="http://schemas.openxmlformats.org/drawingml/2006/main">
            <a:pPr>
              <a:defRPr sz="2025" b="1">
                <a:solidFill>
                  <a:srgbClr val="2878BC"/>
                </a:solidFill>
                <a:latin typeface="Arial"/>
                <a:ea typeface="Arial"/>
                <a:cs typeface="Arial"/>
              </a:defRPr>
            </a:pPr>
            <a:r>
              <a:rPr sz="2025" b="1">
                <a:solidFill>
                  <a:srgbClr val="2878BC"/>
                </a:solidFill>
                <a:latin typeface="Arial"/>
                <a:ea typeface="Arial"/>
                <a:cs typeface="Arial"/>
              </a:rPr>
              <a:t>→ Analyze the evidence → Inspect bits</a:t>
            </a:r>
          </a:p>
        </p:txBody>
      </p:sp>
      <p:sp>
        <p:nvSpPr>
          <p:cNvPr id="8" name="">
            <a:extLst xmlns:a="http://schemas.openxmlformats.org/drawingml/2006/main">
              <a:ext uri="{FF2B5EF4-FFF2-40B4-BE49-F238E27FC236}">
                <a16:creationId xmlns:a16="http://schemas.microsoft.com/office/drawing/2014/main" id="{DDE7D79E-ED36-49AE-B15E-336AFD2BFEB5}"/>
              </a:ext>
            </a:extLst>
          </p:cNvPr>
          <p:cNvSpPr>
            <a:spLocks xmlns:a="http://schemas.openxmlformats.org/drawingml/2006/main" noGrp="1"/>
          </p:cNvSpPr>
          <p:nvPr/>
        </p:nvSpPr>
        <p:spPr>
          <a:xfrm xmlns:a="http://schemas.openxmlformats.org/drawingml/2006/main">
            <a:off x="685800" y="5267325"/>
            <a:ext cx="5143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C7D88"/>
                </a:solidFill>
                <a:latin typeface="Arial"/>
                <a:ea typeface="Arial"/>
                <a:cs typeface="Arial"/>
              </a:defRPr>
            </a:pPr>
            <a:r>
              <a:rPr sz="1800" b="0">
                <a:solidFill>
                  <a:srgbClr val="6C7D88"/>
                </a:solidFill>
                <a:latin typeface="Arial"/>
                <a:ea typeface="Arial"/>
                <a:cs typeface="Arial"/>
              </a:rPr>
              <a:t>Classical simulation, clearly labeled.</a:t>
            </a:r>
          </a:p>
          <a:p xmlns:a="http://schemas.openxmlformats.org/drawingml/2006/main">
            <a:pPr>
              <a:defRPr sz="1800" b="0">
                <a:solidFill>
                  <a:srgbClr val="6C7D88"/>
                </a:solidFill>
                <a:latin typeface="Arial"/>
                <a:ea typeface="Arial"/>
                <a:cs typeface="Arial"/>
              </a:defRPr>
            </a:pPr>
            <a:r>
              <a:rPr sz="1800" b="0">
                <a:solidFill>
                  <a:srgbClr val="6C7D88"/>
                </a:solidFill>
                <a:latin typeface="Arial"/>
                <a:ea typeface="Arial"/>
                <a:cs typeface="Arial"/>
              </a:rPr>
              <a:t>Real hardware validation comes next.</a:t>
            </a:r>
          </a:p>
        </p:txBody>
      </p:sp>
      <p:sp>
        <p:nvSpPr>
          <p:cNvPr id="9" name="">
            <a:extLst xmlns:a="http://schemas.openxmlformats.org/drawingml/2006/main">
              <a:ext uri="{FF2B5EF4-FFF2-40B4-BE49-F238E27FC236}">
                <a16:creationId xmlns:a16="http://schemas.microsoft.com/office/drawing/2014/main" id="{930218E2-3BC4-428A-822C-55EAD2021D69}"/>
              </a:ext>
            </a:extLst>
          </p:cNvPr>
          <p:cNvSpPr>
            <a:spLocks xmlns:a="http://schemas.openxmlformats.org/drawingml/2006/main" noGrp="1"/>
          </p:cNvSpPr>
          <p:nvPr/>
        </p:nvSpPr>
        <p:spPr>
          <a:xfrm xmlns:a="http://schemas.openxmlformats.org/drawingml/2006/main">
            <a:off x="6572250" y="18764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8579"/>
                </a:solidFill>
                <a:latin typeface="Arial"/>
                <a:ea typeface="Arial"/>
                <a:cs typeface="Arial"/>
              </a:defRPr>
            </a:pPr>
            <a:r>
              <a:rPr sz="2250" b="1">
                <a:solidFill>
                  <a:srgbClr val="248579"/>
                </a:solidFill>
                <a:latin typeface="Arial"/>
                <a:ea typeface="Arial"/>
                <a:cs typeface="Arial"/>
              </a:rPr>
              <a:t>Path to a laboratory pilot</a:t>
            </a:r>
          </a:p>
        </p:txBody>
      </p:sp>
      <p:sp>
        <p:nvSpPr>
          <p:cNvPr id="10" name="">
            <a:extLst xmlns:a="http://schemas.openxmlformats.org/drawingml/2006/main">
              <a:ext uri="{FF2B5EF4-FFF2-40B4-BE49-F238E27FC236}">
                <a16:creationId xmlns:a16="http://schemas.microsoft.com/office/drawing/2014/main" id="{015919FC-C788-4A9F-94B1-47BEBF818D79}"/>
              </a:ext>
            </a:extLst>
          </p:cNvPr>
          <p:cNvSpPr>
            <a:spLocks xmlns:a="http://schemas.openxmlformats.org/drawingml/2006/main" noGrp="1"/>
          </p:cNvSpPr>
          <p:nvPr/>
        </p:nvSpPr>
        <p:spPr>
          <a:xfrm xmlns:a="http://schemas.openxmlformats.org/drawingml/2006/main">
            <a:off x="6572250" y="24479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Current: local Streamlit application</a:t>
            </a:r>
          </a:p>
          <a:p xmlns:a="http://schemas.openxmlformats.org/drawingml/2006/main">
            <a:pPr>
              <a:defRPr sz="2025" b="0">
                <a:solidFill>
                  <a:srgbClr val="354653"/>
                </a:solidFill>
                <a:latin typeface="Arial"/>
                <a:ea typeface="Arial"/>
                <a:cs typeface="Arial"/>
              </a:defRPr>
            </a:pPr>
            <a:r>
              <a:rPr sz="2025" b="0">
                <a:solidFill>
                  <a:srgbClr val="354653"/>
                </a:solidFill>
                <a:latin typeface="Arial"/>
                <a:ea typeface="Arial"/>
                <a:cs typeface="Arial"/>
              </a:rPr>
              <a:t>with saved sessions and PDF reports.</a:t>
            </a:r>
          </a:p>
        </p:txBody>
      </p:sp>
      <p:sp>
        <p:nvSpPr>
          <p:cNvPr id="11" name="">
            <a:extLst xmlns:a="http://schemas.openxmlformats.org/drawingml/2006/main">
              <a:ext uri="{FF2B5EF4-FFF2-40B4-BE49-F238E27FC236}">
                <a16:creationId xmlns:a16="http://schemas.microsoft.com/office/drawing/2014/main" id="{889FAD08-7D02-4241-9668-4FBC5550D2CD}"/>
              </a:ext>
            </a:extLst>
          </p:cNvPr>
          <p:cNvSpPr>
            <a:spLocks xmlns:a="http://schemas.openxmlformats.org/drawingml/2006/main" noGrp="1"/>
          </p:cNvSpPr>
          <p:nvPr/>
        </p:nvSpPr>
        <p:spPr>
          <a:xfrm xmlns:a="http://schemas.openxmlformats.org/drawingml/2006/main">
            <a:off x="6572250" y="36195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8BC"/>
                </a:solidFill>
                <a:latin typeface="Arial"/>
                <a:ea typeface="Arial"/>
                <a:cs typeface="Arial"/>
              </a:defRPr>
            </a:pPr>
            <a:r>
              <a:rPr sz="1875" b="1">
                <a:solidFill>
                  <a:srgbClr val="2878BC"/>
                </a:solidFill>
                <a:latin typeface="Arial"/>
                <a:ea typeface="Arial"/>
                <a:cs typeface="Arial"/>
              </a:rPr>
              <a:t>Proposed cloud version</a:t>
            </a:r>
          </a:p>
        </p:txBody>
      </p:sp>
      <p:sp>
        <p:nvSpPr>
          <p:cNvPr id="12" name="">
            <a:extLst xmlns:a="http://schemas.openxmlformats.org/drawingml/2006/main">
              <a:ext uri="{FF2B5EF4-FFF2-40B4-BE49-F238E27FC236}">
                <a16:creationId xmlns:a16="http://schemas.microsoft.com/office/drawing/2014/main" id="{B9562364-9653-43CB-B74B-7EB99F1E7339}"/>
              </a:ext>
            </a:extLst>
          </p:cNvPr>
          <p:cNvSpPr>
            <a:spLocks xmlns:a="http://schemas.openxmlformats.org/drawingml/2006/main" noGrp="1"/>
          </p:cNvSpPr>
          <p:nvPr/>
        </p:nvSpPr>
        <p:spPr>
          <a:xfrm xmlns:a="http://schemas.openxmlformats.org/drawingml/2006/main">
            <a:off x="6572250" y="40862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React + Vite / FastAPI + Python</a:t>
            </a:r>
          </a:p>
          <a:p xmlns:a="http://schemas.openxmlformats.org/drawingml/2006/main">
            <a:pPr>
              <a:defRPr sz="1875" b="0">
                <a:solidFill>
                  <a:srgbClr val="354653"/>
                </a:solidFill>
                <a:latin typeface="Arial"/>
                <a:ea typeface="Arial"/>
                <a:cs typeface="Arial"/>
              </a:defRPr>
            </a:pPr>
            <a:r>
              <a:rPr sz="1875" b="0">
                <a:solidFill>
                  <a:srgbClr val="354653"/>
                </a:solidFill>
                <a:latin typeface="Arial"/>
                <a:ea typeface="Arial"/>
                <a:cs typeface="Arial"/>
              </a:rPr>
              <a:t>Cloudflare + Render / Firebase</a:t>
            </a:r>
          </a:p>
        </p:txBody>
      </p:sp>
      <p:sp>
        <p:nvSpPr>
          <p:cNvPr id="13" name="">
            <a:extLst xmlns:a="http://schemas.openxmlformats.org/drawingml/2006/main">
              <a:ext uri="{FF2B5EF4-FFF2-40B4-BE49-F238E27FC236}">
                <a16:creationId xmlns:a16="http://schemas.microsoft.com/office/drawing/2014/main" id="{D94BF40A-3B99-46AC-B8D6-26E282CC8BE5}"/>
              </a:ext>
            </a:extLst>
          </p:cNvPr>
          <p:cNvSpPr>
            <a:spLocks xmlns:a="http://schemas.openxmlformats.org/drawingml/2006/main" noGrp="1"/>
          </p:cNvSpPr>
          <p:nvPr/>
        </p:nvSpPr>
        <p:spPr>
          <a:xfrm xmlns:a="http://schemas.openxmlformats.org/drawingml/2006/main">
            <a:off x="6572250" y="5267325"/>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C7D88"/>
                </a:solidFill>
                <a:latin typeface="Arial"/>
                <a:ea typeface="Arial"/>
                <a:cs typeface="Arial"/>
              </a:defRPr>
            </a:pPr>
            <a:r>
              <a:rPr sz="1800" b="0">
                <a:solidFill>
                  <a:srgbClr val="6C7D88"/>
                </a:solidFill>
                <a:latin typeface="Arial"/>
                <a:ea typeface="Arial"/>
                <a:cs typeface="Arial"/>
              </a:rPr>
              <a:t>Future inputs: Serial, TCP,</a:t>
            </a:r>
          </a:p>
          <a:p xmlns:a="http://schemas.openxmlformats.org/drawingml/2006/main">
            <a:pPr>
              <a:defRPr sz="1800" b="0">
                <a:solidFill>
                  <a:srgbClr val="6C7D88"/>
                </a:solidFill>
                <a:latin typeface="Arial"/>
                <a:ea typeface="Arial"/>
                <a:cs typeface="Arial"/>
              </a:defRPr>
            </a:pPr>
            <a:r>
              <a:rPr sz="1800" b="0">
                <a:solidFill>
                  <a:srgbClr val="6C7D88"/>
                </a:solidFill>
                <a:latin typeface="Arial"/>
                <a:ea typeface="Arial"/>
                <a:cs typeface="Arial"/>
              </a:rPr>
              <a:t>WebSocket and MQTT adapters.</a:t>
            </a:r>
          </a:p>
        </p:txBody>
      </p:sp>
    </p:spTree>
    <p:extLst>
      <p:ext uri="{BB962C8B-B14F-4D97-AF65-F5344CB8AC3E}">
        <p14:creationId xmlns:p14="http://schemas.microsoft.com/office/powerpoint/2010/main" val="18423981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7532FC4-4149-41B2-A2D5-62737DD235E8}"/>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IMPACT &amp; BENEFITS</a:t>
            </a:r>
          </a:p>
        </p:txBody>
      </p:sp>
      <p:sp>
        <p:nvSpPr>
          <p:cNvPr id="2" name="">
            <a:extLst xmlns:a="http://schemas.openxmlformats.org/drawingml/2006/main">
              <a:ext uri="{FF2B5EF4-FFF2-40B4-BE49-F238E27FC236}">
                <a16:creationId xmlns:a16="http://schemas.microsoft.com/office/drawing/2014/main" id="{C79901BD-C1F9-475A-A971-B370CFA234C9}"/>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A clearer investigation for engineers</a:t>
            </a:r>
          </a:p>
        </p:txBody>
      </p:sp>
      <p:sp>
        <p:nvSpPr>
          <p:cNvPr id="3" name="">
            <a:extLst xmlns:a="http://schemas.openxmlformats.org/drawingml/2006/main">
              <a:ext uri="{FF2B5EF4-FFF2-40B4-BE49-F238E27FC236}">
                <a16:creationId xmlns:a16="http://schemas.microsoft.com/office/drawing/2014/main" id="{854877CC-9729-4B74-ADA2-67A44FAC23DF}"/>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9A47B5D7-B7A9-4C0C-BFDE-ADFA153F261D}"/>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0FBC838-A7F3-49D9-988F-4CC2AE1CF4FA}"/>
              </a:ext>
            </a:extLst>
          </p:cNvPr>
          <p:cNvSpPr>
            <a:spLocks xmlns:a="http://schemas.openxmlformats.org/drawingml/2006/main" noGrp="1"/>
          </p:cNvSpPr>
          <p:nvPr/>
        </p:nvSpPr>
        <p:spPr>
          <a:xfrm xmlns:a="http://schemas.openxmlformats.org/drawingml/2006/main">
            <a:off x="685800" y="192405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Earlier attention</a:t>
            </a:r>
          </a:p>
        </p:txBody>
      </p:sp>
      <p:sp>
        <p:nvSpPr>
          <p:cNvPr id="6" name="">
            <a:extLst xmlns:a="http://schemas.openxmlformats.org/drawingml/2006/main">
              <a:ext uri="{FF2B5EF4-FFF2-40B4-BE49-F238E27FC236}">
                <a16:creationId xmlns:a16="http://schemas.microsoft.com/office/drawing/2014/main" id="{A2521723-0C14-4E1A-B201-912EE59E4D37}"/>
              </a:ext>
            </a:extLst>
          </p:cNvPr>
          <p:cNvSpPr>
            <a:spLocks xmlns:a="http://schemas.openxmlformats.org/drawingml/2006/main" noGrp="1"/>
          </p:cNvSpPr>
          <p:nvPr/>
        </p:nvSpPr>
        <p:spPr>
          <a:xfrm xmlns:a="http://schemas.openxmlformats.org/drawingml/2006/main">
            <a:off x="4905375" y="1924050"/>
            <a:ext cx="666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Surface persistent changes before they become severe,</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when the measured evidence supports it.</a:t>
            </a:r>
          </a:p>
        </p:txBody>
      </p:sp>
      <p:sp>
        <p:nvSpPr>
          <p:cNvPr id="7" name="">
            <a:extLst xmlns:a="http://schemas.openxmlformats.org/drawingml/2006/main">
              <a:ext uri="{FF2B5EF4-FFF2-40B4-BE49-F238E27FC236}">
                <a16:creationId xmlns:a16="http://schemas.microsoft.com/office/drawing/2014/main" id="{204E79CC-104C-45FF-9C32-36C9E3E0BC92}"/>
              </a:ext>
            </a:extLst>
          </p:cNvPr>
          <p:cNvSpPr>
            <a:spLocks xmlns:a="http://schemas.openxmlformats.org/drawingml/2006/main" noGrp="1"/>
          </p:cNvSpPr>
          <p:nvPr/>
        </p:nvSpPr>
        <p:spPr>
          <a:xfrm xmlns:a="http://schemas.openxmlformats.org/drawingml/2006/main">
            <a:off x="685800" y="292417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Focused troubleshooting</a:t>
            </a:r>
          </a:p>
        </p:txBody>
      </p:sp>
      <p:sp>
        <p:nvSpPr>
          <p:cNvPr id="8" name="">
            <a:extLst xmlns:a="http://schemas.openxmlformats.org/drawingml/2006/main">
              <a:ext uri="{FF2B5EF4-FFF2-40B4-BE49-F238E27FC236}">
                <a16:creationId xmlns:a16="http://schemas.microsoft.com/office/drawing/2014/main" id="{97BA59A1-D9F7-4EF1-A849-9D3012EDB20A}"/>
              </a:ext>
            </a:extLst>
          </p:cNvPr>
          <p:cNvSpPr>
            <a:spLocks xmlns:a="http://schemas.openxmlformats.org/drawingml/2006/main" noGrp="1"/>
          </p:cNvSpPr>
          <p:nvPr/>
        </p:nvSpPr>
        <p:spPr>
          <a:xfrm xmlns:a="http://schemas.openxmlformats.org/drawingml/2006/main">
            <a:off x="4905375" y="2924175"/>
            <a:ext cx="666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Locate affected windows and inspect changes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in entropy, bias and correlation.</a:t>
            </a:r>
          </a:p>
        </p:txBody>
      </p:sp>
      <p:sp>
        <p:nvSpPr>
          <p:cNvPr id="9" name="">
            <a:extLst xmlns:a="http://schemas.openxmlformats.org/drawingml/2006/main">
              <a:ext uri="{FF2B5EF4-FFF2-40B4-BE49-F238E27FC236}">
                <a16:creationId xmlns:a16="http://schemas.microsoft.com/office/drawing/2014/main" id="{106AD4F5-6EFA-4C3A-B80D-A6813451AA2D}"/>
              </a:ext>
            </a:extLst>
          </p:cNvPr>
          <p:cNvSpPr>
            <a:spLocks xmlns:a="http://schemas.openxmlformats.org/drawingml/2006/main" noGrp="1"/>
          </p:cNvSpPr>
          <p:nvPr/>
        </p:nvSpPr>
        <p:spPr>
          <a:xfrm xmlns:a="http://schemas.openxmlformats.org/drawingml/2006/main">
            <a:off x="685800" y="392430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Continuous history</a:t>
            </a:r>
          </a:p>
        </p:txBody>
      </p:sp>
      <p:sp>
        <p:nvSpPr>
          <p:cNvPr id="10" name="">
            <a:extLst xmlns:a="http://schemas.openxmlformats.org/drawingml/2006/main">
              <a:ext uri="{FF2B5EF4-FFF2-40B4-BE49-F238E27FC236}">
                <a16:creationId xmlns:a16="http://schemas.microsoft.com/office/drawing/2014/main" id="{A159876B-2DF8-49D4-BAF0-7D49F427467E}"/>
              </a:ext>
            </a:extLst>
          </p:cNvPr>
          <p:cNvSpPr>
            <a:spLocks xmlns:a="http://schemas.openxmlformats.org/drawingml/2006/main" noGrp="1"/>
          </p:cNvSpPr>
          <p:nvPr/>
        </p:nvSpPr>
        <p:spPr>
          <a:xfrm xmlns:a="http://schemas.openxmlformats.org/drawingml/2006/main">
            <a:off x="4905375" y="3924300"/>
            <a:ext cx="666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Track degradation and recovery across sessions.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Compare the stream before and after an adjustment.</a:t>
            </a:r>
          </a:p>
        </p:txBody>
      </p:sp>
      <p:sp>
        <p:nvSpPr>
          <p:cNvPr id="11" name="">
            <a:extLst xmlns:a="http://schemas.openxmlformats.org/drawingml/2006/main">
              <a:ext uri="{FF2B5EF4-FFF2-40B4-BE49-F238E27FC236}">
                <a16:creationId xmlns:a16="http://schemas.microsoft.com/office/drawing/2014/main" id="{E65ECBA7-4BDB-44F5-8DE8-C3E92FB4747A}"/>
              </a:ext>
            </a:extLst>
          </p:cNvPr>
          <p:cNvSpPr>
            <a:spLocks xmlns:a="http://schemas.openxmlformats.org/drawingml/2006/main" noGrp="1"/>
          </p:cNvSpPr>
          <p:nvPr/>
        </p:nvSpPr>
        <p:spPr>
          <a:xfrm xmlns:a="http://schemas.openxmlformats.org/drawingml/2006/main">
            <a:off x="685800" y="49244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Health passport</a:t>
            </a:r>
          </a:p>
        </p:txBody>
      </p:sp>
      <p:sp>
        <p:nvSpPr>
          <p:cNvPr id="12" name="">
            <a:extLst xmlns:a="http://schemas.openxmlformats.org/drawingml/2006/main">
              <a:ext uri="{FF2B5EF4-FFF2-40B4-BE49-F238E27FC236}">
                <a16:creationId xmlns:a16="http://schemas.microsoft.com/office/drawing/2014/main" id="{195CB60A-F289-429B-89D5-B3309BBF79C1}"/>
              </a:ext>
            </a:extLst>
          </p:cNvPr>
          <p:cNvSpPr>
            <a:spLocks xmlns:a="http://schemas.openxmlformats.org/drawingml/2006/main" noGrp="1"/>
          </p:cNvSpPr>
          <p:nvPr/>
        </p:nvSpPr>
        <p:spPr>
          <a:xfrm xmlns:a="http://schemas.openxmlformats.org/drawingml/2006/main">
            <a:off x="4905375" y="4924425"/>
            <a:ext cx="666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Share metrics, test results, events and recommendations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in a traceable record.</a:t>
            </a:r>
          </a:p>
        </p:txBody>
      </p:sp>
      <p:sp>
        <p:nvSpPr>
          <p:cNvPr id="13" name="">
            <a:extLst xmlns:a="http://schemas.openxmlformats.org/drawingml/2006/main">
              <a:ext uri="{FF2B5EF4-FFF2-40B4-BE49-F238E27FC236}">
                <a16:creationId xmlns:a16="http://schemas.microsoft.com/office/drawing/2014/main" id="{C80C5890-A5BC-4082-99C1-EA59C2EF5E54}"/>
              </a:ext>
            </a:extLst>
          </p:cNvPr>
          <p:cNvSpPr>
            <a:spLocks xmlns:a="http://schemas.openxmlformats.org/drawingml/2006/main" noGrp="1"/>
          </p:cNvSpPr>
          <p:nvPr/>
        </p:nvSpPr>
        <p:spPr>
          <a:xfrm xmlns:a="http://schemas.openxmlformats.org/drawingml/2006/main">
            <a:off x="685800" y="597217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8BC"/>
                </a:solidFill>
                <a:latin typeface="Arial"/>
                <a:ea typeface="Arial"/>
                <a:cs typeface="Arial"/>
              </a:defRPr>
            </a:pPr>
            <a:r>
              <a:rPr sz="1800" b="1">
                <a:solidFill>
                  <a:srgbClr val="2878BC"/>
                </a:solidFill>
                <a:latin typeface="Arial"/>
                <a:ea typeface="Arial"/>
                <a:cs typeface="Arial"/>
              </a:rPr>
              <a:t>For QRNG researchers, device engineers and laboratory teams.</a:t>
            </a:r>
          </a:p>
        </p:txBody>
      </p:sp>
    </p:spTree>
    <p:extLst>
      <p:ext uri="{BB962C8B-B14F-4D97-AF65-F5344CB8AC3E}">
        <p14:creationId xmlns:p14="http://schemas.microsoft.com/office/powerpoint/2010/main" val="2061850092"/>
      </p:ext>
    </p:extLst>
  </p:cSld>
</p:sld>
</file>

<file path=ppt/slides/slide6.xml><?xml version="1.0" encoding="utf-8"?>
<p:sld xmlns:p="http://schemas.openxmlformats.org/presentationml/2006/main">
  <p:cSld>
    <p:bg>
      <p:bgPr>
        <a:solidFill xmlns:a="http://schemas.openxmlformats.org/drawingml/2006/main">
          <a:srgbClr val="F4F9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970586-CB3A-42AF-826E-9489DB72BA1C}"/>
              </a:ext>
            </a:extLst>
          </p:cNvPr>
          <p:cNvSpPr>
            <a:spLocks xmlns:a="http://schemas.openxmlformats.org/drawingml/2006/main" noGrp="1"/>
          </p:cNvSpPr>
          <p:nvPr/>
        </p:nvSpPr>
        <p:spPr>
          <a:xfrm xmlns:a="http://schemas.openxmlformats.org/drawingml/2006/main">
            <a:off x="666750" y="361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878BC"/>
                </a:solidFill>
                <a:latin typeface="Arial"/>
                <a:ea typeface="Arial"/>
                <a:cs typeface="Arial"/>
              </a:defRPr>
            </a:pPr>
            <a:r>
              <a:rPr sz="1350" b="1">
                <a:solidFill>
                  <a:srgbClr val="2878BC"/>
                </a:solidFill>
                <a:latin typeface="Arial"/>
                <a:ea typeface="Arial"/>
                <a:cs typeface="Arial"/>
              </a:rPr>
              <a:t>INNOVATION &amp; DEMO</a:t>
            </a:r>
          </a:p>
        </p:txBody>
      </p:sp>
      <p:sp>
        <p:nvSpPr>
          <p:cNvPr id="2" name="">
            <a:extLst xmlns:a="http://schemas.openxmlformats.org/drawingml/2006/main">
              <a:ext uri="{FF2B5EF4-FFF2-40B4-BE49-F238E27FC236}">
                <a16:creationId xmlns:a16="http://schemas.microsoft.com/office/drawing/2014/main" id="{D49FFBB8-A4ED-43BA-8BE2-102B29327E5D}"/>
              </a:ext>
            </a:extLst>
          </p:cNvPr>
          <p:cNvSpPr>
            <a:spLocks xmlns:a="http://schemas.openxmlformats.org/drawingml/2006/main" noGrp="1"/>
          </p:cNvSpPr>
          <p:nvPr/>
        </p:nvSpPr>
        <p:spPr>
          <a:xfrm xmlns:a="http://schemas.openxmlformats.org/drawingml/2006/main">
            <a:off x="666750" y="8858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354653"/>
                </a:solidFill>
                <a:latin typeface="Arial"/>
                <a:ea typeface="Arial"/>
                <a:cs typeface="Arial"/>
              </a:defRPr>
            </a:pPr>
            <a:r>
              <a:rPr sz="3225" b="1">
                <a:solidFill>
                  <a:srgbClr val="354653"/>
                </a:solidFill>
                <a:latin typeface="Arial"/>
                <a:ea typeface="Arial"/>
                <a:cs typeface="Arial"/>
              </a:rPr>
              <a:t>The warning comes with evidence</a:t>
            </a:r>
          </a:p>
        </p:txBody>
      </p:sp>
      <p:sp>
        <p:nvSpPr>
          <p:cNvPr id="3" name="">
            <a:extLst xmlns:a="http://schemas.openxmlformats.org/drawingml/2006/main">
              <a:ext uri="{FF2B5EF4-FFF2-40B4-BE49-F238E27FC236}">
                <a16:creationId xmlns:a16="http://schemas.microsoft.com/office/drawing/2014/main" id="{8876B308-1C25-481D-8C96-DC0445793B5A}"/>
              </a:ext>
            </a:extLst>
          </p:cNvPr>
          <p:cNvSpPr>
            <a:spLocks xmlns:a="http://schemas.openxmlformats.org/drawingml/2006/main" noGrp="1"/>
          </p:cNvSpPr>
          <p:nvPr/>
        </p:nvSpPr>
        <p:spPr>
          <a:xfrm xmlns:a="http://schemas.openxmlformats.org/drawingml/2006/main">
            <a:off x="666750" y="639127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Q-SENTINEL</a:t>
            </a:r>
          </a:p>
        </p:txBody>
      </p:sp>
      <p:sp>
        <p:nvSpPr>
          <p:cNvPr id="4" name="">
            <a:extLst xmlns:a="http://schemas.openxmlformats.org/drawingml/2006/main">
              <a:ext uri="{FF2B5EF4-FFF2-40B4-BE49-F238E27FC236}">
                <a16:creationId xmlns:a16="http://schemas.microsoft.com/office/drawing/2014/main" id="{71456F5D-87F8-4793-968F-71D1E6669994}"/>
              </a:ext>
            </a:extLst>
          </p:cNvPr>
          <p:cNvSpPr>
            <a:spLocks xmlns:a="http://schemas.openxmlformats.org/drawingml/2006/main" noGrp="1"/>
          </p:cNvSpPr>
          <p:nvPr/>
        </p:nvSpPr>
        <p:spPr>
          <a:xfrm xmlns:a="http://schemas.openxmlformats.org/drawingml/2006/main">
            <a:off x="11049000" y="639127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7D88"/>
                </a:solidFill>
                <a:latin typeface="Arial"/>
                <a:ea typeface="Arial"/>
                <a:cs typeface="Arial"/>
              </a:defRPr>
            </a:pPr>
            <a:r>
              <a:rPr sz="1200" b="0">
                <a:solidFill>
                  <a:srgbClr val="6C7D8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34A669F-3CB6-4907-AF54-7EC011C56D51}"/>
              </a:ext>
            </a:extLst>
          </p:cNvPr>
          <p:cNvSpPr>
            <a:spLocks xmlns:a="http://schemas.openxmlformats.org/drawingml/2006/main" noGrp="1"/>
          </p:cNvSpPr>
          <p:nvPr/>
        </p:nvSpPr>
        <p:spPr>
          <a:xfrm xmlns:a="http://schemas.openxmlformats.org/drawingml/2006/main">
            <a:off x="685800" y="18478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C7D88"/>
                </a:solidFill>
                <a:latin typeface="Arial"/>
                <a:ea typeface="Arial"/>
                <a:cs typeface="Arial"/>
              </a:defRPr>
            </a:pPr>
            <a:r>
              <a:rPr sz="2175" b="1">
                <a:solidFill>
                  <a:srgbClr val="6C7D88"/>
                </a:solidFill>
                <a:latin typeface="Arial"/>
                <a:ea typeface="Arial"/>
                <a:cs typeface="Arial"/>
              </a:rPr>
              <a:t>A pass/fail summary</a:t>
            </a:r>
          </a:p>
        </p:txBody>
      </p:sp>
      <p:sp>
        <p:nvSpPr>
          <p:cNvPr id="6" name="">
            <a:extLst xmlns:a="http://schemas.openxmlformats.org/drawingml/2006/main">
              <a:ext uri="{FF2B5EF4-FFF2-40B4-BE49-F238E27FC236}">
                <a16:creationId xmlns:a16="http://schemas.microsoft.com/office/drawing/2014/main" id="{77B26771-5B08-4199-8DF3-C28474D3F823}"/>
              </a:ext>
            </a:extLst>
          </p:cNvPr>
          <p:cNvSpPr>
            <a:spLocks xmlns:a="http://schemas.openxmlformats.org/drawingml/2006/main" noGrp="1"/>
          </p:cNvSpPr>
          <p:nvPr/>
        </p:nvSpPr>
        <p:spPr>
          <a:xfrm xmlns:a="http://schemas.openxmlformats.org/drawingml/2006/main">
            <a:off x="685800" y="2381250"/>
            <a:ext cx="5095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QRNG data → NIST → Result</a:t>
            </a:r>
          </a:p>
        </p:txBody>
      </p:sp>
      <p:sp>
        <p:nvSpPr>
          <p:cNvPr id="7" name="">
            <a:extLst xmlns:a="http://schemas.openxmlformats.org/drawingml/2006/main">
              <a:ext uri="{FF2B5EF4-FFF2-40B4-BE49-F238E27FC236}">
                <a16:creationId xmlns:a16="http://schemas.microsoft.com/office/drawing/2014/main" id="{F4843CB7-B0DD-4642-832A-DFEDC406B316}"/>
              </a:ext>
            </a:extLst>
          </p:cNvPr>
          <p:cNvSpPr>
            <a:spLocks xmlns:a="http://schemas.openxmlformats.org/drawingml/2006/main" noGrp="1"/>
          </p:cNvSpPr>
          <p:nvPr/>
        </p:nvSpPr>
        <p:spPr>
          <a:xfrm xmlns:a="http://schemas.openxmlformats.org/drawingml/2006/main">
            <a:off x="6572250" y="18478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48579"/>
                </a:solidFill>
                <a:latin typeface="Arial"/>
                <a:ea typeface="Arial"/>
                <a:cs typeface="Arial"/>
              </a:defRPr>
            </a:pPr>
            <a:r>
              <a:rPr sz="2100" b="1">
                <a:solidFill>
                  <a:srgbClr val="248579"/>
                </a:solidFill>
                <a:latin typeface="Arial"/>
                <a:ea typeface="Arial"/>
                <a:cs typeface="Arial"/>
              </a:rPr>
              <a:t>Q-Sentinel adds the investigation</a:t>
            </a:r>
          </a:p>
        </p:txBody>
      </p:sp>
      <p:sp>
        <p:nvSpPr>
          <p:cNvPr id="8" name="">
            <a:extLst xmlns:a="http://schemas.openxmlformats.org/drawingml/2006/main">
              <a:ext uri="{FF2B5EF4-FFF2-40B4-BE49-F238E27FC236}">
                <a16:creationId xmlns:a16="http://schemas.microsoft.com/office/drawing/2014/main" id="{BBA00815-9374-4676-A5F8-0393B8DD1165}"/>
              </a:ext>
            </a:extLst>
          </p:cNvPr>
          <p:cNvSpPr>
            <a:spLocks xmlns:a="http://schemas.openxmlformats.org/drawingml/2006/main" noGrp="1"/>
          </p:cNvSpPr>
          <p:nvPr/>
        </p:nvSpPr>
        <p:spPr>
          <a:xfrm xmlns:a="http://schemas.openxmlformats.org/drawingml/2006/main">
            <a:off x="6572250" y="2381250"/>
            <a:ext cx="5000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8BC"/>
                </a:solidFill>
                <a:latin typeface="Arial"/>
                <a:ea typeface="Arial"/>
                <a:cs typeface="Arial"/>
              </a:defRPr>
            </a:pPr>
            <a:r>
              <a:rPr sz="2100" b="1">
                <a:solidFill>
                  <a:srgbClr val="2878BC"/>
                </a:solidFill>
                <a:latin typeface="Arial"/>
                <a:ea typeface="Arial"/>
                <a:cs typeface="Arial"/>
              </a:rPr>
              <a:t>Measure → Compare → Detect</a:t>
            </a:r>
          </a:p>
          <a:p xmlns:a="http://schemas.openxmlformats.org/drawingml/2006/main">
            <a:pPr>
              <a:defRPr sz="2100" b="1">
                <a:solidFill>
                  <a:srgbClr val="2878BC"/>
                </a:solidFill>
                <a:latin typeface="Arial"/>
                <a:ea typeface="Arial"/>
                <a:cs typeface="Arial"/>
              </a:defRPr>
            </a:pPr>
            <a:r>
              <a:rPr sz="2100" b="1">
                <a:solidFill>
                  <a:srgbClr val="2878BC"/>
                </a:solidFill>
                <a:latin typeface="Arial"/>
                <a:ea typeface="Arial"/>
                <a:cs typeface="Arial"/>
              </a:rPr>
              <a:t>→ Explain → Recommend</a:t>
            </a:r>
          </a:p>
        </p:txBody>
      </p:sp>
      <p:sp>
        <p:nvSpPr>
          <p:cNvPr id="9" name="">
            <a:extLst xmlns:a="http://schemas.openxmlformats.org/drawingml/2006/main">
              <a:ext uri="{FF2B5EF4-FFF2-40B4-BE49-F238E27FC236}">
                <a16:creationId xmlns:a16="http://schemas.microsoft.com/office/drawing/2014/main" id="{6053846B-1FB0-47B2-8F34-B69FB10F8EB1}"/>
              </a:ext>
            </a:extLst>
          </p:cNvPr>
          <p:cNvSpPr>
            <a:spLocks xmlns:a="http://schemas.openxmlformats.org/drawingml/2006/main" noGrp="1"/>
          </p:cNvSpPr>
          <p:nvPr/>
        </p:nvSpPr>
        <p:spPr>
          <a:xfrm xmlns:a="http://schemas.openxmlformats.org/drawingml/2006/main">
            <a:off x="685800" y="351472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Live demo</a:t>
            </a:r>
          </a:p>
        </p:txBody>
      </p:sp>
      <p:sp>
        <p:nvSpPr>
          <p:cNvPr id="10" name="">
            <a:extLst xmlns:a="http://schemas.openxmlformats.org/drawingml/2006/main">
              <a:ext uri="{FF2B5EF4-FFF2-40B4-BE49-F238E27FC236}">
                <a16:creationId xmlns:a16="http://schemas.microsoft.com/office/drawing/2014/main" id="{C188507F-C1A6-425A-AA89-26B857AF073C}"/>
              </a:ext>
            </a:extLst>
          </p:cNvPr>
          <p:cNvSpPr>
            <a:spLocks xmlns:a="http://schemas.openxmlformats.org/drawingml/2006/main" noGrp="1"/>
          </p:cNvSpPr>
          <p:nvPr/>
        </p:nvSpPr>
        <p:spPr>
          <a:xfrm xmlns:a="http://schemas.openxmlformats.org/drawingml/2006/main">
            <a:off x="685800" y="4067175"/>
            <a:ext cx="53340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1   Start a healthy simulation</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2   Inject gradual degradation</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3   Inspect the first flagged window</a:t>
            </a:r>
          </a:p>
          <a:p xmlns:a="http://schemas.openxmlformats.org/drawingml/2006/main">
            <a:pPr>
              <a:defRPr sz="2100" b="0">
                <a:solidFill>
                  <a:srgbClr val="354653"/>
                </a:solidFill>
                <a:latin typeface="Arial"/>
                <a:ea typeface="Arial"/>
                <a:cs typeface="Arial"/>
              </a:defRPr>
            </a:pPr>
            <a:r>
              <a:rPr sz="2100" b="0">
                <a:solidFill>
                  <a:srgbClr val="354653"/>
                </a:solidFill>
                <a:latin typeface="Arial"/>
                <a:ea typeface="Arial"/>
                <a:cs typeface="Arial"/>
              </a:rPr>
              <a:t>4   Export the health passport</a:t>
            </a:r>
          </a:p>
        </p:txBody>
      </p:sp>
      <p:sp>
        <p:nvSpPr>
          <p:cNvPr id="11" name="">
            <a:extLst xmlns:a="http://schemas.openxmlformats.org/drawingml/2006/main">
              <a:ext uri="{FF2B5EF4-FFF2-40B4-BE49-F238E27FC236}">
                <a16:creationId xmlns:a16="http://schemas.microsoft.com/office/drawing/2014/main" id="{166DD42C-AE71-4868-A4B8-27448714F1EE}"/>
              </a:ext>
            </a:extLst>
          </p:cNvPr>
          <p:cNvSpPr>
            <a:spLocks xmlns:a="http://schemas.openxmlformats.org/drawingml/2006/main" noGrp="1"/>
          </p:cNvSpPr>
          <p:nvPr/>
        </p:nvSpPr>
        <p:spPr>
          <a:xfrm xmlns:a="http://schemas.openxmlformats.org/drawingml/2006/main">
            <a:off x="6572250" y="35147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8579"/>
                </a:solidFill>
                <a:latin typeface="Arial"/>
                <a:ea typeface="Arial"/>
                <a:cs typeface="Arial"/>
              </a:defRPr>
            </a:pPr>
            <a:r>
              <a:rPr sz="2175" b="1">
                <a:solidFill>
                  <a:srgbClr val="248579"/>
                </a:solidFill>
                <a:latin typeface="Arial"/>
                <a:ea typeface="Arial"/>
                <a:cs typeface="Arial"/>
              </a:rPr>
              <a:t>What judges will see</a:t>
            </a:r>
          </a:p>
        </p:txBody>
      </p:sp>
      <p:sp>
        <p:nvSpPr>
          <p:cNvPr id="12" name="">
            <a:extLst xmlns:a="http://schemas.openxmlformats.org/drawingml/2006/main">
              <a:ext uri="{FF2B5EF4-FFF2-40B4-BE49-F238E27FC236}">
                <a16:creationId xmlns:a16="http://schemas.microsoft.com/office/drawing/2014/main" id="{20D9F7DA-D26F-4589-8175-5AEA939752B4}"/>
              </a:ext>
            </a:extLst>
          </p:cNvPr>
          <p:cNvSpPr>
            <a:spLocks xmlns:a="http://schemas.openxmlformats.org/drawingml/2006/main" noGrp="1"/>
          </p:cNvSpPr>
          <p:nvPr/>
        </p:nvSpPr>
        <p:spPr>
          <a:xfrm xmlns:a="http://schemas.openxmlformats.org/drawingml/2006/main">
            <a:off x="6572250" y="4067175"/>
            <a:ext cx="500062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Measured entropy, bias and correlation</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Alerts linked to specific windows</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An explanation of the evidence</a:t>
            </a:r>
          </a:p>
          <a:p xmlns:a="http://schemas.openxmlformats.org/drawingml/2006/main">
            <a:pPr>
              <a:defRPr sz="1950" b="0">
                <a:solidFill>
                  <a:srgbClr val="354653"/>
                </a:solidFill>
                <a:latin typeface="Arial"/>
                <a:ea typeface="Arial"/>
                <a:cs typeface="Arial"/>
              </a:defRPr>
            </a:pPr>
            <a:r>
              <a:rPr sz="1950" b="0">
                <a:solidFill>
                  <a:srgbClr val="354653"/>
                </a:solidFill>
                <a:latin typeface="Arial"/>
                <a:ea typeface="Arial"/>
                <a:cs typeface="Arial"/>
              </a:rPr>
              <a:t>A suggested next investigation</a:t>
            </a:r>
          </a:p>
        </p:txBody>
      </p:sp>
      <p:sp>
        <p:nvSpPr>
          <p:cNvPr id="13" name="">
            <a:extLst xmlns:a="http://schemas.openxmlformats.org/drawingml/2006/main">
              <a:ext uri="{FF2B5EF4-FFF2-40B4-BE49-F238E27FC236}">
                <a16:creationId xmlns:a16="http://schemas.microsoft.com/office/drawing/2014/main" id="{6E317F5A-14E9-48CA-9B45-B196B6DE2E9C}"/>
              </a:ext>
            </a:extLst>
          </p:cNvPr>
          <p:cNvSpPr>
            <a:spLocks xmlns:a="http://schemas.openxmlformats.org/drawingml/2006/main" noGrp="1"/>
          </p:cNvSpPr>
          <p:nvPr/>
        </p:nvSpPr>
        <p:spPr>
          <a:xfrm xmlns:a="http://schemas.openxmlformats.org/drawingml/2006/main">
            <a:off x="685800" y="59912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7D88"/>
                </a:solidFill>
                <a:latin typeface="Arial"/>
                <a:ea typeface="Arial"/>
                <a:cs typeface="Arial"/>
              </a:defRPr>
            </a:pPr>
            <a:r>
              <a:rPr sz="1575" b="0">
                <a:solidFill>
                  <a:srgbClr val="6C7D88"/>
                </a:solidFill>
                <a:latin typeface="Arial"/>
                <a:ea typeface="Arial"/>
                <a:cs typeface="Arial"/>
              </a:rPr>
              <a:t>Demo results vary with the data. Statistical evidence does not prove quantum origin.</a:t>
            </a:r>
          </a:p>
        </p:txBody>
      </p:sp>
    </p:spTree>
    <p:extLst>
      <p:ext uri="{BB962C8B-B14F-4D97-AF65-F5344CB8AC3E}">
        <p14:creationId xmlns:p14="http://schemas.microsoft.com/office/powerpoint/2010/main" val="17917598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2026-09-25T10:00:21.9660000Z</dcterms:created>
  <dcterms:modified xsi:type="dcterms:W3CDTF">2026-09-25T10:00:21.9660000Z</dcterms:modified>
</coreProperties>
</file>